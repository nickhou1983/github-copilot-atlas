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3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1129010"/>
            <a:ext cx="2286000" cy="260152"/>
          </a:xfrm>
          <a:prstGeom prst="roundRect">
            <a:avLst>
              <a:gd name="adj" fmla="val 78108"/>
            </a:avLst>
          </a:prstGeom>
          <a:solidFill>
            <a:srgbClr val="4A7B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12602" y="1192411"/>
            <a:ext cx="19692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34901" y="1566863"/>
            <a:ext cx="33415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Atlas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34901" y="2071688"/>
            <a:ext cx="33415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 Agent 工作流程详解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4901" y="2512963"/>
            <a:ext cx="33415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VS Code GitHub Copilot 的智能编排系统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4901" y="2966889"/>
            <a:ext cx="634901" cy="381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Users/qifenghou/Codes/Github-Copilot-Atlas/pptx-workspace/slides/icon-atl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01" y="3258889"/>
            <a:ext cx="381000" cy="381000"/>
          </a:xfrm>
          <a:prstGeom prst="rect">
            <a:avLst/>
          </a:prstGeom>
        </p:spPr>
      </p:pic>
      <p:pic>
        <p:nvPicPr>
          <p:cNvPr id="9" name="Image 1" descr="/Users/qifenghou/Codes/Github-Copilot-Atlas/pptx-workspace/slides/icon-prometheu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402" y="3258889"/>
            <a:ext cx="381000" cy="381000"/>
          </a:xfrm>
          <a:prstGeom prst="rect">
            <a:avLst/>
          </a:prstGeom>
        </p:spPr>
      </p:pic>
      <p:pic>
        <p:nvPicPr>
          <p:cNvPr id="10" name="Image 2" descr="/Users/qifenghou/Codes/Github-Copilot-Atlas/pptx-workspace/slides/icon-ora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9902" y="3258889"/>
            <a:ext cx="381000" cy="381000"/>
          </a:xfrm>
          <a:prstGeom prst="rect">
            <a:avLst/>
          </a:prstGeom>
        </p:spPr>
      </p:pic>
      <p:pic>
        <p:nvPicPr>
          <p:cNvPr id="11" name="Image 3" descr="/Users/qifenghou/Codes/Github-Copilot-Atlas/pptx-workspace/slides/icon-explor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2403" y="3258889"/>
            <a:ext cx="381000" cy="381000"/>
          </a:xfrm>
          <a:prstGeom prst="rect">
            <a:avLst/>
          </a:prstGeom>
        </p:spPr>
      </p:pic>
      <p:pic>
        <p:nvPicPr>
          <p:cNvPr id="12" name="Image 4" descr="/Users/qifenghou/Codes/Github-Copilot-Atlas/pptx-workspace/slides/icon-sisyphu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4904" y="3258889"/>
            <a:ext cx="381000" cy="381000"/>
          </a:xfrm>
          <a:prstGeom prst="rect">
            <a:avLst/>
          </a:prstGeom>
        </p:spPr>
      </p:pic>
      <p:pic>
        <p:nvPicPr>
          <p:cNvPr id="13" name="Image 5" descr="/Users/qifenghou/Codes/Github-Copilot-Atlas/pptx-workspace/slides/icon-revie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7405" y="3258889"/>
            <a:ext cx="381000" cy="381000"/>
          </a:xfrm>
          <a:prstGeom prst="rect">
            <a:avLst/>
          </a:prstGeom>
        </p:spPr>
      </p:pic>
      <p:pic>
        <p:nvPicPr>
          <p:cNvPr id="14" name="Image 6" descr="/Users/qifenghou/Codes/Github-Copilot-Atlas/pptx-workspace/slides/icon-fronten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9905" y="3258889"/>
            <a:ext cx="381000" cy="38100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634901" y="3766840"/>
            <a:ext cx="33415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A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→ Implementation → Review → Commit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4A7B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5902" y="381000"/>
            <a:ext cx="83167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7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PROJECT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5902" y="590550"/>
            <a:ext cx="83167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项目概述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5902" y="1069925"/>
            <a:ext cx="83167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Conductor-Delegate 模式的智能开发编排系统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5902" y="1454051"/>
            <a:ext cx="3949898" cy="1104602"/>
          </a:xfrm>
          <a:prstGeom prst="roundRect">
            <a:avLst>
              <a:gd name="adj" fmla="val 919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4A7B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qifenghou/Codes/Github-Copilot-Atlas/pptx-workspace/slide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27" y="1641277"/>
            <a:ext cx="304800" cy="30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9428" y="1693664"/>
            <a:ext cx="5697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核心理念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3127" y="2022277"/>
            <a:ext cx="364695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将复杂开发任务分解为 Planning → Implementation → Review → Commit 的完整生命周期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5902" y="2685604"/>
            <a:ext cx="3949898" cy="1104602"/>
          </a:xfrm>
          <a:prstGeom prst="roundRect">
            <a:avLst>
              <a:gd name="adj" fmla="val 919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4A7B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1" descr="/Users/qifenghou/Codes/Github-Copilot-Atlas/pptx-workspace/slide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27" y="2872829"/>
            <a:ext cx="304800" cy="304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39428" y="2925217"/>
            <a:ext cx="9891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个专职 Agent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33127" y="3253829"/>
            <a:ext cx="364695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各司其职：规划、研究、探索、实现、审查、前端专家，由指挥官统一编排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45902" y="3917156"/>
            <a:ext cx="3949898" cy="942677"/>
          </a:xfrm>
          <a:prstGeom prst="roundRect">
            <a:avLst>
              <a:gd name="adj" fmla="val 1077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4A7B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2" descr="/Users/qifenghou/Codes/Github-Copilot-Atlas/pptx-workspace/slide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27" y="4104382"/>
            <a:ext cx="304800" cy="304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39428" y="4156770"/>
            <a:ext cx="6172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TDD 驱动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733127" y="4485382"/>
            <a:ext cx="36469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每个阶段严格遵循 Red-Green-Refactor 测试驱动开发循环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4749701" y="1454051"/>
            <a:ext cx="40288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核心价值对比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749701" y="1761976"/>
            <a:ext cx="1886099" cy="761851"/>
          </a:xfrm>
          <a:prstGeom prst="roundRect">
            <a:avLst>
              <a:gd name="adj" fmla="val 10002"/>
            </a:avLst>
          </a:prstGeom>
          <a:solidFill>
            <a:srgbClr val="00D4AA">
              <a:alpha val="8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4870045" y="1898452"/>
            <a:ext cx="164541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70-80%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4870045" y="2244477"/>
            <a:ext cx="16454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上下文节省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6813500" y="1761976"/>
            <a:ext cx="1886099" cy="761851"/>
          </a:xfrm>
          <a:prstGeom prst="roundRect">
            <a:avLst>
              <a:gd name="adj" fmla="val 10002"/>
            </a:avLst>
          </a:prstGeom>
          <a:solidFill>
            <a:srgbClr val="00D4AA">
              <a:alpha val="8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6933844" y="1898452"/>
            <a:ext cx="164541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6933844" y="2244477"/>
            <a:ext cx="16454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并行执行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4749701" y="2625328"/>
            <a:ext cx="1886099" cy="819001"/>
          </a:xfrm>
          <a:prstGeom prst="roundRect">
            <a:avLst>
              <a:gd name="adj" fmla="val 9304"/>
            </a:avLst>
          </a:prstGeom>
          <a:solidFill>
            <a:srgbClr val="00D4AA">
              <a:alpha val="8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4870045" y="2761804"/>
            <a:ext cx="164541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7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000" dirty="0"/>
          </a:p>
        </p:txBody>
      </p:sp>
      <p:sp>
        <p:nvSpPr>
          <p:cNvPr id="27" name="Text 22"/>
          <p:cNvSpPr/>
          <p:nvPr/>
        </p:nvSpPr>
        <p:spPr>
          <a:xfrm>
            <a:off x="4870045" y="3107829"/>
            <a:ext cx="16454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TDD 覆盖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6813500" y="2625328"/>
            <a:ext cx="1886099" cy="819001"/>
          </a:xfrm>
          <a:prstGeom prst="roundRect">
            <a:avLst>
              <a:gd name="adj" fmla="val 9304"/>
            </a:avLst>
          </a:prstGeom>
          <a:solidFill>
            <a:srgbClr val="00D4AA">
              <a:alpha val="8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6933844" y="2761804"/>
            <a:ext cx="164541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7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可扩展</a:t>
            </a:r>
            <a:endParaRPr lang="en-US" sz="2000" dirty="0"/>
          </a:p>
        </p:txBody>
      </p:sp>
      <p:sp>
        <p:nvSpPr>
          <p:cNvPr id="30" name="Text 25"/>
          <p:cNvSpPr/>
          <p:nvPr/>
        </p:nvSpPr>
        <p:spPr>
          <a:xfrm>
            <a:off x="6933844" y="3164979"/>
            <a:ext cx="16454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 Agent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82501" y="355550"/>
            <a:ext cx="84461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82501" y="565100"/>
            <a:ext cx="844610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系统架构总览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82501" y="980926"/>
            <a:ext cx="8446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指挥官-委派模式 (Conductor-Delegate Pattern)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95350" y="1244352"/>
            <a:ext cx="3625751" cy="1409402"/>
          </a:xfrm>
          <a:prstGeom prst="roundRect">
            <a:avLst>
              <a:gd name="adj" fmla="val 9011"/>
            </a:avLst>
          </a:prstGeom>
          <a:solidFill>
            <a:srgbClr val="4A7BF7">
              <a:alpha val="10000"/>
            </a:srgbClr>
          </a:solidFill>
          <a:ln w="9525">
            <a:solidFill>
              <a:srgbClr val="4A7B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qifenghou/Codes/Github-Copilot-Atlas/pptx-workspace/slides/icon-promethe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176" y="1406277"/>
            <a:ext cx="507950" cy="5079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256" y="2003078"/>
            <a:ext cx="33679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24256" y="2199829"/>
            <a:ext cx="33679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自主规划师 | GPT-5.2 High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24256" y="2368004"/>
            <a:ext cx="33679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研究需求 → 撰写计划 → 交接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724251" y="1244352"/>
            <a:ext cx="3625751" cy="1409402"/>
          </a:xfrm>
          <a:prstGeom prst="roundRect">
            <a:avLst>
              <a:gd name="adj" fmla="val 9011"/>
            </a:avLst>
          </a:prstGeom>
          <a:solidFill>
            <a:srgbClr val="4A7BF7">
              <a:alpha val="10000"/>
            </a:srgbClr>
          </a:solidFill>
          <a:ln w="9525">
            <a:solidFill>
              <a:srgbClr val="4A7B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Users/qifenghou/Codes/Github-Copilot-Atlas/pptx-workspace/slides/icon-atla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077" y="1406277"/>
            <a:ext cx="507950" cy="5079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53157" y="2003078"/>
            <a:ext cx="33679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A7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53157" y="2199829"/>
            <a:ext cx="33679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指挥官 | Claude Sonnet 4.5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853157" y="2368004"/>
            <a:ext cx="33679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编排完整开发生命周期</a:t>
            </a:r>
            <a:endParaRPr lang="en-US" sz="700" dirty="0"/>
          </a:p>
        </p:txBody>
      </p:sp>
      <p:pic>
        <p:nvPicPr>
          <p:cNvPr id="16" name="Image 2" descr="/Users/qifenghou/Codes/Github-Copilot-Atlas/pptx-workspace/slides/arrow-dow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250" y="2729954"/>
            <a:ext cx="381000" cy="2793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2501" y="3136255"/>
            <a:ext cx="1534120" cy="1123652"/>
          </a:xfrm>
          <a:prstGeom prst="roundRect">
            <a:avLst>
              <a:gd name="adj" fmla="val 904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4A7B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3" descr="/Users/qifenghou/Codes/Github-Copilot-Atlas/pptx-workspace/slides/icon-explor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411" y="3272730"/>
            <a:ext cx="406301" cy="40630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06364" y="3755231"/>
            <a:ext cx="12863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606364" y="3901232"/>
            <a:ext cx="12863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侦察兵</a:t>
            </a:r>
            <a:endParaRPr lang="en-US" sz="700" dirty="0"/>
          </a:p>
        </p:txBody>
      </p:sp>
      <p:sp>
        <p:nvSpPr>
          <p:cNvPr id="21" name="Text 15"/>
          <p:cNvSpPr/>
          <p:nvPr/>
        </p:nvSpPr>
        <p:spPr>
          <a:xfrm>
            <a:off x="606364" y="4037707"/>
            <a:ext cx="12863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5A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 Flash</a:t>
            </a:r>
            <a:endParaRPr lang="en-US" sz="600" dirty="0"/>
          </a:p>
        </p:txBody>
      </p:sp>
      <p:sp>
        <p:nvSpPr>
          <p:cNvPr id="22" name="Text 16"/>
          <p:cNvSpPr/>
          <p:nvPr/>
        </p:nvSpPr>
        <p:spPr>
          <a:xfrm>
            <a:off x="2169021" y="3136255"/>
            <a:ext cx="1534269" cy="1123652"/>
          </a:xfrm>
          <a:prstGeom prst="roundRect">
            <a:avLst>
              <a:gd name="adj" fmla="val 904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4A7B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4" descr="/Users/qifenghou/Codes/Github-Copilot-Atlas/pptx-workspace/slides/icon-ora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2931" y="3272730"/>
            <a:ext cx="406301" cy="40630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292883" y="3755231"/>
            <a:ext cx="12865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2292883" y="3901232"/>
            <a:ext cx="128654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研究员</a:t>
            </a:r>
            <a:endParaRPr lang="en-US" sz="700" dirty="0"/>
          </a:p>
        </p:txBody>
      </p:sp>
      <p:sp>
        <p:nvSpPr>
          <p:cNvPr id="26" name="Text 19"/>
          <p:cNvSpPr/>
          <p:nvPr/>
        </p:nvSpPr>
        <p:spPr>
          <a:xfrm>
            <a:off x="2292883" y="4037707"/>
            <a:ext cx="128654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5A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GPT-5.2</a:t>
            </a:r>
            <a:endParaRPr lang="en-US" sz="600" dirty="0"/>
          </a:p>
        </p:txBody>
      </p:sp>
      <p:sp>
        <p:nvSpPr>
          <p:cNvPr id="27" name="Text 20"/>
          <p:cNvSpPr/>
          <p:nvPr/>
        </p:nvSpPr>
        <p:spPr>
          <a:xfrm>
            <a:off x="3855690" y="3136255"/>
            <a:ext cx="1534120" cy="1123652"/>
          </a:xfrm>
          <a:prstGeom prst="roundRect">
            <a:avLst>
              <a:gd name="adj" fmla="val 904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4A7B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8" name="Image 5" descr="/Users/qifenghou/Codes/Github-Copilot-Atlas/pptx-workspace/slides/icon-sisyphu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9600" y="3272730"/>
            <a:ext cx="406301" cy="40630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979554" y="3755231"/>
            <a:ext cx="12863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Sisyphus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3979554" y="3901232"/>
            <a:ext cx="12863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实现者</a:t>
            </a:r>
            <a:endParaRPr lang="en-US" sz="700" dirty="0"/>
          </a:p>
        </p:txBody>
      </p:sp>
      <p:sp>
        <p:nvSpPr>
          <p:cNvPr id="31" name="Text 23"/>
          <p:cNvSpPr/>
          <p:nvPr/>
        </p:nvSpPr>
        <p:spPr>
          <a:xfrm>
            <a:off x="3979554" y="4037707"/>
            <a:ext cx="12863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5A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4.5</a:t>
            </a:r>
            <a:endParaRPr lang="en-US" sz="600" dirty="0"/>
          </a:p>
        </p:txBody>
      </p:sp>
      <p:sp>
        <p:nvSpPr>
          <p:cNvPr id="32" name="Text 24"/>
          <p:cNvSpPr/>
          <p:nvPr/>
        </p:nvSpPr>
        <p:spPr>
          <a:xfrm>
            <a:off x="5542211" y="3136255"/>
            <a:ext cx="1534269" cy="1123652"/>
          </a:xfrm>
          <a:prstGeom prst="roundRect">
            <a:avLst>
              <a:gd name="adj" fmla="val 904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4A7B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6" descr="/Users/qifenghou/Codes/Github-Copilot-Atlas/pptx-workspace/slides/icon-revie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6120" y="3272730"/>
            <a:ext cx="406301" cy="406301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666073" y="3755231"/>
            <a:ext cx="12865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Code-Review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5666073" y="3901232"/>
            <a:ext cx="128654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审查员</a:t>
            </a:r>
            <a:endParaRPr lang="en-US" sz="700" dirty="0"/>
          </a:p>
        </p:txBody>
      </p:sp>
      <p:sp>
        <p:nvSpPr>
          <p:cNvPr id="36" name="Text 27"/>
          <p:cNvSpPr/>
          <p:nvPr/>
        </p:nvSpPr>
        <p:spPr>
          <a:xfrm>
            <a:off x="5666073" y="4037707"/>
            <a:ext cx="128654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5A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GPT-5.2</a:t>
            </a:r>
            <a:endParaRPr lang="en-US" sz="600" dirty="0"/>
          </a:p>
        </p:txBody>
      </p:sp>
      <p:sp>
        <p:nvSpPr>
          <p:cNvPr id="37" name="Text 28"/>
          <p:cNvSpPr/>
          <p:nvPr/>
        </p:nvSpPr>
        <p:spPr>
          <a:xfrm>
            <a:off x="7228880" y="3136255"/>
            <a:ext cx="1534120" cy="1123652"/>
          </a:xfrm>
          <a:prstGeom prst="roundRect">
            <a:avLst>
              <a:gd name="adj" fmla="val 904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4A7B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8" name="Image 7" descr="/Users/qifenghou/Codes/Github-Copilot-Atlas/pptx-workspace/slides/icon-fronten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2789" y="3272730"/>
            <a:ext cx="406301" cy="406301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352743" y="3755231"/>
            <a:ext cx="12863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900" dirty="0"/>
          </a:p>
        </p:txBody>
      </p:sp>
      <p:sp>
        <p:nvSpPr>
          <p:cNvPr id="40" name="Text 30"/>
          <p:cNvSpPr/>
          <p:nvPr/>
        </p:nvSpPr>
        <p:spPr>
          <a:xfrm>
            <a:off x="7352743" y="3901232"/>
            <a:ext cx="12863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前端专家</a:t>
            </a:r>
            <a:endParaRPr lang="en-US" sz="700" dirty="0"/>
          </a:p>
        </p:txBody>
      </p:sp>
      <p:sp>
        <p:nvSpPr>
          <p:cNvPr id="41" name="Text 31"/>
          <p:cNvSpPr/>
          <p:nvPr/>
        </p:nvSpPr>
        <p:spPr>
          <a:xfrm>
            <a:off x="7352743" y="4037707"/>
            <a:ext cx="12863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5A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 Pro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4A7B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82501" y="330101"/>
            <a:ext cx="84461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7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PRIMARY AGENTS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82501" y="539651"/>
            <a:ext cx="844610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 Agent 详解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82501" y="1031677"/>
            <a:ext cx="4038600" cy="2167979"/>
          </a:xfrm>
          <a:prstGeom prst="roundRect">
            <a:avLst>
              <a:gd name="adj" fmla="val 5858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6313" y="1031677"/>
            <a:ext cx="0" cy="2167979"/>
          </a:xfrm>
          <a:prstGeom prst="line">
            <a:avLst/>
          </a:prstGeom>
          <a:noFill/>
          <a:ln w="47625">
            <a:solidFill>
              <a:srgbClr val="4A7BF7"/>
            </a:solidFill>
            <a:prstDash val="solid"/>
          </a:ln>
        </p:spPr>
      </p:sp>
      <p:pic>
        <p:nvPicPr>
          <p:cNvPr id="7" name="Image 0" descr="/Users/qifenghou/Codes/Github-Copilot-Atlas/pptx-workspace/slides/icon-atl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827" y="1209377"/>
            <a:ext cx="381000" cy="381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90327" y="1276052"/>
            <a:ext cx="10375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7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指挥官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07827" y="1666577"/>
            <a:ext cx="37082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</a:t>
            </a:r>
            <a:pPr algn="l" indent="0" marL="0">
              <a:buNone/>
            </a:pPr>
            <a:r>
              <a:rPr lang="en-US" sz="8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Claude Sonnet 4.5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07827" y="1831628"/>
            <a:ext cx="542627" cy="174427"/>
          </a:xfrm>
          <a:prstGeom prst="roundRect">
            <a:avLst>
              <a:gd name="adj" fmla="val 29124"/>
            </a:avLst>
          </a:prstGeom>
          <a:solidFill>
            <a:srgbClr val="4A7BF7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84027" y="1856929"/>
            <a:ext cx="3980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A7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个工具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707827" y="2082254"/>
            <a:ext cx="37082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核心职责：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07827" y="2275880"/>
            <a:ext cx="3635573" cy="5715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8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编排完整开发生命周期</a:t>
            </a:r>
            <a:endParaRPr lang="en-US" sz="800" dirty="0"/>
          </a:p>
          <a:p>
            <a:pPr algn="l" marL="88900" indent="-88900">
              <a:buSzPct val="100000"/>
              <a:buChar char="•"/>
            </a:pPr>
            <a:r>
              <a:rPr lang="en-US" sz="8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委派子 Agent 执行专项任务</a:t>
            </a:r>
            <a:endParaRPr lang="en-US" sz="800" dirty="0"/>
          </a:p>
          <a:p>
            <a:pPr algn="l" marL="88900" indent="-88900">
              <a:buSzPct val="100000"/>
              <a:buChar char="•"/>
            </a:pPr>
            <a:r>
              <a:rPr lang="en-US" sz="8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管理用户审批关卡</a:t>
            </a:r>
            <a:endParaRPr lang="en-US" sz="800" dirty="0"/>
          </a:p>
          <a:p>
            <a:pPr algn="l" marL="88900" indent="-88900">
              <a:buSzPct val="100000"/>
              <a:buChar char="•"/>
            </a:pPr>
            <a:r>
              <a:rPr lang="en-US" sz="8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编写阶段完成文档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07827" y="2898130"/>
            <a:ext cx="37082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关键原则：不亲自编写代码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724251" y="1031677"/>
            <a:ext cx="4038749" cy="2167979"/>
          </a:xfrm>
          <a:prstGeom prst="roundRect">
            <a:avLst>
              <a:gd name="adj" fmla="val 5858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748064" y="1031677"/>
            <a:ext cx="0" cy="2167979"/>
          </a:xfrm>
          <a:prstGeom prst="line">
            <a:avLst/>
          </a:prstGeom>
          <a:noFill/>
          <a:ln w="47625">
            <a:solidFill>
              <a:srgbClr val="FF6B35"/>
            </a:solidFill>
            <a:prstDash val="solid"/>
          </a:ln>
        </p:spPr>
      </p:sp>
      <p:pic>
        <p:nvPicPr>
          <p:cNvPr id="17" name="Image 1" descr="/Users/qifenghou/Codes/Github-Copilot-Atlas/pptx-workspace/slides/icon-prometheu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577" y="1209377"/>
            <a:ext cx="381000" cy="3810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32078" y="1276052"/>
            <a:ext cx="16420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规划师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949577" y="1666577"/>
            <a:ext cx="37084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</a:t>
            </a:r>
            <a:pPr algn="l" indent="0" marL="0">
              <a:buNone/>
            </a:pPr>
            <a:r>
              <a:rPr lang="en-US" sz="8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GPT-5.2 High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4949577" y="1831628"/>
            <a:ext cx="507950" cy="174427"/>
          </a:xfrm>
          <a:prstGeom prst="roundRect">
            <a:avLst>
              <a:gd name="adj" fmla="val 29124"/>
            </a:avLst>
          </a:prstGeom>
          <a:solidFill>
            <a:srgbClr val="FF6B35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5025777" y="1856929"/>
            <a:ext cx="36266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自主规划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4949577" y="2082254"/>
            <a:ext cx="37084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核心职责：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949577" y="2275880"/>
            <a:ext cx="3635722" cy="5715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8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深度研究代码库架构</a:t>
            </a:r>
            <a:endParaRPr lang="en-US" sz="800" dirty="0"/>
          </a:p>
          <a:p>
            <a:pPr algn="l" marL="88900" indent="-88900">
              <a:buSzPct val="100000"/>
              <a:buChar char="•"/>
            </a:pPr>
            <a:r>
              <a:rPr lang="en-US" sz="8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撰写 TDD 驱动实施计划</a:t>
            </a:r>
            <a:endParaRPr lang="en-US" sz="800" dirty="0"/>
          </a:p>
          <a:p>
            <a:pPr algn="l" marL="88900" indent="-88900">
              <a:buSzPct val="100000"/>
              <a:buChar char="•"/>
            </a:pPr>
            <a:r>
              <a:rPr lang="en-US" sz="8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分析风险，提出缓解方案</a:t>
            </a:r>
            <a:endParaRPr lang="en-US" sz="800" dirty="0"/>
          </a:p>
          <a:p>
            <a:pPr algn="l" marL="88900" indent="-88900">
              <a:buSzPct val="100000"/>
              <a:buChar char="•"/>
            </a:pPr>
            <a:r>
              <a:rPr lang="en-US" sz="8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自动交接给 Atlas 执行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949577" y="2898130"/>
            <a:ext cx="37084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约束：只写 .md 计划文件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C084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051" y="304800"/>
            <a:ext cx="84980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SPECIALIZED SUBAGENTS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051" y="488900"/>
            <a:ext cx="849802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专职子 Agent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051" y="942826"/>
            <a:ext cx="1564630" cy="1634728"/>
          </a:xfrm>
          <a:prstGeom prst="roundRect">
            <a:avLst>
              <a:gd name="adj" fmla="val 6494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051" y="961876"/>
            <a:ext cx="1564630" cy="0"/>
          </a:xfrm>
          <a:prstGeom prst="line">
            <a:avLst/>
          </a:prstGeom>
          <a:noFill/>
          <a:ln w="38100">
            <a:solidFill>
              <a:srgbClr val="FFD93D"/>
            </a:solidFill>
            <a:prstDash val="solid"/>
          </a:ln>
        </p:spPr>
      </p:sp>
      <p:pic>
        <p:nvPicPr>
          <p:cNvPr id="7" name="Image 0" descr="/Users/qifenghou/Codes/Github-Copilot-Atlas/pptx-workspace/slides/icon-explor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02" y="1107877"/>
            <a:ext cx="330101" cy="3301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4002" y="1514177"/>
            <a:ext cx="133694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 侦察兵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84002" y="1761827"/>
            <a:ext cx="639217" cy="111026"/>
          </a:xfrm>
          <a:prstGeom prst="roundRect">
            <a:avLst>
              <a:gd name="adj" fmla="val 34316"/>
            </a:avLst>
          </a:prstGeom>
          <a:solidFill>
            <a:srgbClr val="FFD93D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47402" y="1774478"/>
            <a:ext cx="52266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 Flash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584002" y="1930003"/>
            <a:ext cx="1310729" cy="495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快速代码库探索</a:t>
            </a:r>
            <a:endParaRPr lang="en-US" sz="700" dirty="0"/>
          </a:p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强制并行 3-10 搜索</a:t>
            </a:r>
            <a:endParaRPr lang="en-US" sz="700" dirty="0"/>
          </a:p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只读模式 (无编辑)</a:t>
            </a:r>
            <a:endParaRPr lang="en-US" sz="700" dirty="0"/>
          </a:p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结构化文件发现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148632" y="942826"/>
            <a:ext cx="1564779" cy="1634728"/>
          </a:xfrm>
          <a:prstGeom prst="roundRect">
            <a:avLst>
              <a:gd name="adj" fmla="val 6493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2148632" y="961876"/>
            <a:ext cx="1564779" cy="0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</p:sp>
      <p:pic>
        <p:nvPicPr>
          <p:cNvPr id="14" name="Image 1" descr="/Users/qifenghou/Codes/Github-Copilot-Atlas/pptx-workspace/slides/icon-ora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582" y="1107877"/>
            <a:ext cx="330101" cy="33010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275582" y="1514177"/>
            <a:ext cx="13370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研究员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275582" y="1761827"/>
            <a:ext cx="410617" cy="111026"/>
          </a:xfrm>
          <a:prstGeom prst="roundRect">
            <a:avLst>
              <a:gd name="adj" fmla="val 34316"/>
            </a:avLst>
          </a:prstGeom>
          <a:solidFill>
            <a:srgbClr val="00D4AA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2338983" y="1774478"/>
            <a:ext cx="28949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GPT-5.2</a:t>
            </a:r>
            <a:endParaRPr lang="en-US" sz="600" dirty="0"/>
          </a:p>
        </p:txBody>
      </p:sp>
      <p:sp>
        <p:nvSpPr>
          <p:cNvPr id="18" name="Text 14"/>
          <p:cNvSpPr/>
          <p:nvPr/>
        </p:nvSpPr>
        <p:spPr>
          <a:xfrm>
            <a:off x="2275582" y="1930003"/>
            <a:ext cx="1310878" cy="495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深度子系统分析</a:t>
            </a:r>
            <a:endParaRPr lang="en-US" sz="700" dirty="0"/>
          </a:p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识别代码模式</a:t>
            </a:r>
            <a:endParaRPr lang="en-US" sz="700" dirty="0"/>
          </a:p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提供实现方案</a:t>
            </a:r>
            <a:endParaRPr lang="en-US" sz="700" dirty="0"/>
          </a:p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信心即停止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3840361" y="942826"/>
            <a:ext cx="1564630" cy="1634728"/>
          </a:xfrm>
          <a:prstGeom prst="roundRect">
            <a:avLst>
              <a:gd name="adj" fmla="val 6494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6"/>
          <p:cNvSpPr/>
          <p:nvPr/>
        </p:nvSpPr>
        <p:spPr>
          <a:xfrm>
            <a:off x="3840361" y="961876"/>
            <a:ext cx="1564630" cy="0"/>
          </a:xfrm>
          <a:prstGeom prst="line">
            <a:avLst/>
          </a:prstGeom>
          <a:noFill/>
          <a:ln w="38100">
            <a:solidFill>
              <a:srgbClr val="C084FC"/>
            </a:solidFill>
            <a:prstDash val="solid"/>
          </a:ln>
        </p:spPr>
      </p:sp>
      <p:pic>
        <p:nvPicPr>
          <p:cNvPr id="21" name="Image 2" descr="/Users/qifenghou/Codes/Github-Copilot-Atlas/pptx-workspace/slides/icon-sisyphu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7311" y="1107877"/>
            <a:ext cx="330101" cy="33010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967311" y="1514177"/>
            <a:ext cx="133694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Sisyphus 实现者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3967311" y="1761827"/>
            <a:ext cx="758130" cy="111026"/>
          </a:xfrm>
          <a:prstGeom prst="roundRect">
            <a:avLst>
              <a:gd name="adj" fmla="val 34316"/>
            </a:avLst>
          </a:prstGeom>
          <a:solidFill>
            <a:srgbClr val="C084FC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4030712" y="1774478"/>
            <a:ext cx="64395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4.5</a:t>
            </a:r>
            <a:endParaRPr lang="en-US" sz="600" dirty="0"/>
          </a:p>
        </p:txBody>
      </p:sp>
      <p:sp>
        <p:nvSpPr>
          <p:cNvPr id="25" name="Text 20"/>
          <p:cNvSpPr/>
          <p:nvPr/>
        </p:nvSpPr>
        <p:spPr>
          <a:xfrm>
            <a:off x="3967311" y="1930003"/>
            <a:ext cx="1310729" cy="495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严格 TDD 驱动实现</a:t>
            </a:r>
            <a:endParaRPr lang="en-US" sz="700" dirty="0"/>
          </a:p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先写测试后写代码</a:t>
            </a:r>
            <a:endParaRPr lang="en-US" sz="700" dirty="0"/>
          </a:p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可并行多实例</a:t>
            </a:r>
            <a:endParaRPr lang="en-US" sz="700" dirty="0"/>
          </a:p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处理后端/核心逻辑</a:t>
            </a:r>
            <a:endParaRPr lang="en-US" sz="700" dirty="0"/>
          </a:p>
        </p:txBody>
      </p:sp>
      <p:sp>
        <p:nvSpPr>
          <p:cNvPr id="26" name="Text 21"/>
          <p:cNvSpPr/>
          <p:nvPr/>
        </p:nvSpPr>
        <p:spPr>
          <a:xfrm>
            <a:off x="5531941" y="942826"/>
            <a:ext cx="1564779" cy="1634728"/>
          </a:xfrm>
          <a:prstGeom prst="roundRect">
            <a:avLst>
              <a:gd name="adj" fmla="val 6493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2"/>
          <p:cNvSpPr/>
          <p:nvPr/>
        </p:nvSpPr>
        <p:spPr>
          <a:xfrm>
            <a:off x="5531941" y="961876"/>
            <a:ext cx="1564779" cy="0"/>
          </a:xfrm>
          <a:prstGeom prst="line">
            <a:avLst/>
          </a:prstGeom>
          <a:noFill/>
          <a:ln w="38100">
            <a:solidFill>
              <a:srgbClr val="F472B6"/>
            </a:solidFill>
            <a:prstDash val="solid"/>
          </a:ln>
        </p:spPr>
      </p:sp>
      <p:pic>
        <p:nvPicPr>
          <p:cNvPr id="28" name="Image 3" descr="/Users/qifenghou/Codes/Github-Copilot-Atlas/pptx-workspace/slides/icon-revie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8892" y="1107877"/>
            <a:ext cx="330101" cy="33010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658892" y="1514177"/>
            <a:ext cx="13370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Code-Review 审查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658892" y="1761827"/>
            <a:ext cx="410617" cy="111026"/>
          </a:xfrm>
          <a:prstGeom prst="roundRect">
            <a:avLst>
              <a:gd name="adj" fmla="val 34316"/>
            </a:avLst>
          </a:prstGeom>
          <a:solidFill>
            <a:srgbClr val="F472B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5722293" y="1774478"/>
            <a:ext cx="28949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GPT-5.2</a:t>
            </a:r>
            <a:endParaRPr lang="en-US" sz="600" dirty="0"/>
          </a:p>
        </p:txBody>
      </p:sp>
      <p:sp>
        <p:nvSpPr>
          <p:cNvPr id="32" name="Text 26"/>
          <p:cNvSpPr/>
          <p:nvPr/>
        </p:nvSpPr>
        <p:spPr>
          <a:xfrm>
            <a:off x="5658892" y="1930003"/>
            <a:ext cx="1310878" cy="46672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正确性 + 安全性审查</a:t>
            </a:r>
            <a:endParaRPr lang="en-US" sz="700" dirty="0"/>
          </a:p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测试覆盖验证</a:t>
            </a:r>
            <a:endParaRPr lang="en-US" sz="700" dirty="0"/>
          </a:p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三级状态输出</a:t>
            </a:r>
            <a:endParaRPr lang="en-US" sz="700" dirty="0"/>
          </a:p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/ REVISION</a:t>
            </a:r>
            <a:endParaRPr lang="en-US" sz="700" dirty="0"/>
          </a:p>
        </p:txBody>
      </p:sp>
      <p:sp>
        <p:nvSpPr>
          <p:cNvPr id="33" name="Text 27"/>
          <p:cNvSpPr/>
          <p:nvPr/>
        </p:nvSpPr>
        <p:spPr>
          <a:xfrm>
            <a:off x="7223671" y="942826"/>
            <a:ext cx="1564779" cy="1634728"/>
          </a:xfrm>
          <a:prstGeom prst="roundRect">
            <a:avLst>
              <a:gd name="adj" fmla="val 6493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28"/>
          <p:cNvSpPr/>
          <p:nvPr/>
        </p:nvSpPr>
        <p:spPr>
          <a:xfrm>
            <a:off x="7223671" y="961876"/>
            <a:ext cx="1564779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pic>
        <p:nvPicPr>
          <p:cNvPr id="35" name="Image 4" descr="/Users/qifenghou/Codes/Github-Copilot-Atlas/pptx-workspace/slides/icon-fronten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621" y="1107877"/>
            <a:ext cx="330101" cy="330101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350621" y="1514177"/>
            <a:ext cx="13370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前端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7350621" y="1761827"/>
            <a:ext cx="571500" cy="111026"/>
          </a:xfrm>
          <a:prstGeom prst="roundRect">
            <a:avLst>
              <a:gd name="adj" fmla="val 34316"/>
            </a:avLst>
          </a:prstGeom>
          <a:solidFill>
            <a:srgbClr val="34D39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1"/>
          <p:cNvSpPr/>
          <p:nvPr/>
        </p:nvSpPr>
        <p:spPr>
          <a:xfrm>
            <a:off x="7414022" y="1774478"/>
            <a:ext cx="45359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 Pro</a:t>
            </a:r>
            <a:endParaRPr lang="en-US" sz="600" dirty="0"/>
          </a:p>
        </p:txBody>
      </p:sp>
      <p:sp>
        <p:nvSpPr>
          <p:cNvPr id="39" name="Text 32"/>
          <p:cNvSpPr/>
          <p:nvPr/>
        </p:nvSpPr>
        <p:spPr>
          <a:xfrm>
            <a:off x="7350621" y="1930003"/>
            <a:ext cx="1310878" cy="495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组件实现</a:t>
            </a:r>
            <a:endParaRPr lang="en-US" sz="700" dirty="0"/>
          </a:p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响应式 + 可访问性</a:t>
            </a:r>
            <a:endParaRPr lang="en-US" sz="700" dirty="0"/>
          </a:p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 TDD 工作流</a:t>
            </a:r>
            <a:endParaRPr lang="en-US" sz="700" dirty="0"/>
          </a:p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框架自动检测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051" y="304800"/>
            <a:ext cx="84980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CORE 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051" y="488900"/>
            <a:ext cx="849802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核心工作流程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051" y="917525"/>
            <a:ext cx="8498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完整生命周期：Planning → Implementation → Review → Commit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051" y="1180951"/>
            <a:ext cx="2472482" cy="1739652"/>
          </a:xfrm>
          <a:prstGeom prst="roundRect">
            <a:avLst>
              <a:gd name="adj" fmla="val 5840"/>
            </a:avLst>
          </a:prstGeom>
          <a:solidFill>
            <a:srgbClr val="4A7BF7">
              <a:alpha val="15000"/>
            </a:srgbClr>
          </a:solidFill>
          <a:ln w="9525">
            <a:solidFill>
              <a:srgbClr val="4A7B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qifenghou/Codes/Github-Copilot-Atlas/pptx-workspace/slides/phase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27" y="1317427"/>
            <a:ext cx="355550" cy="3555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3527" y="1749177"/>
            <a:ext cx="22435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A7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3527" y="1926878"/>
            <a:ext cx="22435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3527" y="2126903"/>
            <a:ext cx="2199531" cy="619125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分析需求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委派 Explorer 探索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委派 Oracle 研究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撰写 3-10 阶段计划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等待用户审批</a:t>
            </a:r>
            <a:endParaRPr lang="en-US" sz="700" dirty="0"/>
          </a:p>
        </p:txBody>
      </p:sp>
      <p:pic>
        <p:nvPicPr>
          <p:cNvPr id="11" name="Image 1" descr="/Users/qifenghou/Codes/Github-Copilot-Atlas/pptx-workspace/slides/arrow-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034" y="1974503"/>
            <a:ext cx="253901" cy="152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6435" y="1180951"/>
            <a:ext cx="2472630" cy="1739652"/>
          </a:xfrm>
          <a:prstGeom prst="roundRect">
            <a:avLst>
              <a:gd name="adj" fmla="val 5840"/>
            </a:avLst>
          </a:prstGeom>
          <a:solidFill>
            <a:srgbClr val="00D4AA">
              <a:alpha val="15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2" descr="/Users/qifenghou/Codes/Github-Copilot-Atlas/pptx-workspace/slides/phase-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2911" y="1317427"/>
            <a:ext cx="355550" cy="3555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22911" y="1749177"/>
            <a:ext cx="22436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522911" y="1926878"/>
            <a:ext cx="22436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实现循环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3522911" y="2126903"/>
            <a:ext cx="2199680" cy="619125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2A: 委派实现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2B: 委派审查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2C: 返回用户提交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循环每个阶段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则回退</a:t>
            </a:r>
            <a:endParaRPr lang="en-US" sz="700" dirty="0"/>
          </a:p>
        </p:txBody>
      </p:sp>
      <p:pic>
        <p:nvPicPr>
          <p:cNvPr id="17" name="Image 3" descr="/Users/qifenghou/Codes/Github-Copilot-Atlas/pptx-workspace/slides/arrow-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0566" y="1974503"/>
            <a:ext cx="253901" cy="152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15968" y="1180951"/>
            <a:ext cx="2472482" cy="1739652"/>
          </a:xfrm>
          <a:prstGeom prst="roundRect">
            <a:avLst>
              <a:gd name="adj" fmla="val 5840"/>
            </a:avLst>
          </a:prstGeom>
          <a:solidFill>
            <a:srgbClr val="FF6B35">
              <a:alpha val="15000"/>
            </a:srgbClr>
          </a:solidFill>
          <a:ln w="9525">
            <a:solidFill>
              <a:srgbClr val="FF6B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4" descr="/Users/qifenghou/Codes/Github-Copilot-Atlas/pptx-workspace/slides/phase-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2443" y="1317427"/>
            <a:ext cx="355550" cy="3555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452443" y="1749177"/>
            <a:ext cx="22435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6452443" y="1926878"/>
            <a:ext cx="22435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6452443" y="2126903"/>
            <a:ext cx="2199531" cy="619125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编写完成报告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汇总所有文件变更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确认测试全部通过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呈现最终摘要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关闭任务</a:t>
            </a:r>
            <a:endParaRPr lang="en-US" sz="700" dirty="0"/>
          </a:p>
        </p:txBody>
      </p:sp>
      <p:sp>
        <p:nvSpPr>
          <p:cNvPr id="23" name="Text 16"/>
          <p:cNvSpPr/>
          <p:nvPr/>
        </p:nvSpPr>
        <p:spPr>
          <a:xfrm>
            <a:off x="457051" y="3047554"/>
            <a:ext cx="2692450" cy="650677"/>
          </a:xfrm>
          <a:prstGeom prst="roundRect">
            <a:avLst>
              <a:gd name="adj" fmla="val 11711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568077" y="3158579"/>
            <a:ext cx="25198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个强制停止点</a:t>
            </a:r>
            <a:endParaRPr lang="en-US" sz="800" dirty="0"/>
          </a:p>
        </p:txBody>
      </p:sp>
      <p:sp>
        <p:nvSpPr>
          <p:cNvPr id="25" name="Text 18"/>
          <p:cNvSpPr/>
          <p:nvPr/>
        </p:nvSpPr>
        <p:spPr>
          <a:xfrm>
            <a:off x="568077" y="3339554"/>
            <a:ext cx="25198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计划审批 → 每阶段提交确认 → 最终完成确认</a:t>
            </a:r>
            <a:endParaRPr lang="en-US" sz="700" dirty="0"/>
          </a:p>
        </p:txBody>
      </p:sp>
      <p:sp>
        <p:nvSpPr>
          <p:cNvPr id="26" name="Text 19"/>
          <p:cNvSpPr/>
          <p:nvPr/>
        </p:nvSpPr>
        <p:spPr>
          <a:xfrm>
            <a:off x="3276451" y="3047554"/>
            <a:ext cx="2692598" cy="650677"/>
          </a:xfrm>
          <a:prstGeom prst="roundRect">
            <a:avLst>
              <a:gd name="adj" fmla="val 11711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3387477" y="3158579"/>
            <a:ext cx="25199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TDD 驱动每阶段</a:t>
            </a:r>
            <a:endParaRPr lang="en-US" sz="800" dirty="0"/>
          </a:p>
        </p:txBody>
      </p:sp>
      <p:sp>
        <p:nvSpPr>
          <p:cNvPr id="28" name="Text 21"/>
          <p:cNvSpPr/>
          <p:nvPr/>
        </p:nvSpPr>
        <p:spPr>
          <a:xfrm>
            <a:off x="3387477" y="3339554"/>
            <a:ext cx="251995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(写测试失败) → GREEN (最少代码) → REFACTOR (优化)</a:t>
            </a:r>
            <a:endParaRPr lang="en-US" sz="700" dirty="0"/>
          </a:p>
        </p:txBody>
      </p:sp>
      <p:sp>
        <p:nvSpPr>
          <p:cNvPr id="29" name="Text 22"/>
          <p:cNvSpPr/>
          <p:nvPr/>
        </p:nvSpPr>
        <p:spPr>
          <a:xfrm>
            <a:off x="6096000" y="3047554"/>
            <a:ext cx="2692450" cy="650677"/>
          </a:xfrm>
          <a:prstGeom prst="roundRect">
            <a:avLst>
              <a:gd name="adj" fmla="val 11711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6207026" y="3158579"/>
            <a:ext cx="25198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文件输出规范</a:t>
            </a:r>
            <a:endParaRPr lang="en-US" sz="800" dirty="0"/>
          </a:p>
        </p:txBody>
      </p:sp>
      <p:sp>
        <p:nvSpPr>
          <p:cNvPr id="31" name="Text 24"/>
          <p:cNvSpPr/>
          <p:nvPr/>
        </p:nvSpPr>
        <p:spPr>
          <a:xfrm>
            <a:off x="6207026" y="3339554"/>
            <a:ext cx="25198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*-plan.md → *-phase-N-complete.md → *-complete.md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C084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051" y="304800"/>
            <a:ext cx="84980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PROMETHEUS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051" y="488900"/>
            <a:ext cx="849802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自主规划流程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051" y="917525"/>
            <a:ext cx="8498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GPT-5.2 High 驱动 | 自动委派 Explorer + Oracle | 生成结构化执行计划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051" y="1180951"/>
            <a:ext cx="41583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触发 &amp; 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051" y="1393627"/>
            <a:ext cx="4076849" cy="526703"/>
          </a:xfrm>
          <a:prstGeom prst="roundRect">
            <a:avLst>
              <a:gd name="adj" fmla="val 1446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Users/qifenghou/Codes/Github-Copilot-Atlas/pptx-workspace/slides/phase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27" y="1529953"/>
            <a:ext cx="279350" cy="2793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74378" y="1504652"/>
            <a:ext cx="34915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接收任务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74378" y="1672828"/>
            <a:ext cx="349150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委派或用户 @prometheus 触发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57051" y="1996529"/>
            <a:ext cx="4076849" cy="526703"/>
          </a:xfrm>
          <a:prstGeom prst="roundRect">
            <a:avLst>
              <a:gd name="adj" fmla="val 1446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Users/qifenghou/Codes/Github-Copilot-Atlas/pptx-workspace/slides/icon-explor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27" y="2132856"/>
            <a:ext cx="279350" cy="2793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74378" y="2107555"/>
            <a:ext cx="34915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委派 Explorer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974378" y="2275731"/>
            <a:ext cx="349150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file_search + grep 代码库全局探索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457051" y="2599432"/>
            <a:ext cx="4076849" cy="526703"/>
          </a:xfrm>
          <a:prstGeom prst="roundRect">
            <a:avLst>
              <a:gd name="adj" fmla="val 1446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Users/qifenghou/Codes/Github-Copilot-Atlas/pptx-workspace/slides/icon-ora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527" y="2735759"/>
            <a:ext cx="279350" cy="2793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74378" y="2710458"/>
            <a:ext cx="34915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委派 Oracle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974378" y="2878634"/>
            <a:ext cx="349150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fetch_webpage + semantic_search 外部研究</a:t>
            </a:r>
            <a:endParaRPr lang="en-US" sz="700" dirty="0"/>
          </a:p>
        </p:txBody>
      </p:sp>
      <p:sp>
        <p:nvSpPr>
          <p:cNvPr id="19" name="Text 14"/>
          <p:cNvSpPr/>
          <p:nvPr/>
        </p:nvSpPr>
        <p:spPr>
          <a:xfrm>
            <a:off x="457051" y="3202335"/>
            <a:ext cx="4076849" cy="1265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457051" y="3291185"/>
            <a:ext cx="4076849" cy="774502"/>
          </a:xfrm>
          <a:prstGeom prst="roundRect">
            <a:avLst>
              <a:gd name="adj" fmla="val 9839"/>
            </a:avLst>
          </a:prstGeom>
          <a:solidFill>
            <a:srgbClr val="C084FC">
              <a:alpha val="10000"/>
            </a:srgbClr>
          </a:solidFill>
          <a:ln w="9525">
            <a:solidFill>
              <a:srgbClr val="C084F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593527" y="3402211"/>
            <a:ext cx="38799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关键约束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593527" y="3583186"/>
            <a:ext cx="3803898" cy="371475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禁止直接编辑文件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必须 3-10 个阶段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每阶段可独立交付</a:t>
            </a:r>
            <a:endParaRPr lang="en-US" sz="700" dirty="0"/>
          </a:p>
        </p:txBody>
      </p:sp>
      <p:sp>
        <p:nvSpPr>
          <p:cNvPr id="23" name="Text 18"/>
          <p:cNvSpPr/>
          <p:nvPr/>
        </p:nvSpPr>
        <p:spPr>
          <a:xfrm>
            <a:off x="4711601" y="1180951"/>
            <a:ext cx="41583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计划生成 &amp; 输出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711601" y="1393627"/>
            <a:ext cx="4076849" cy="526703"/>
          </a:xfrm>
          <a:prstGeom prst="roundRect">
            <a:avLst>
              <a:gd name="adj" fmla="val 1446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3" descr="/Users/qifenghou/Codes/Github-Copilot-Atlas/pptx-workspace/slides/phase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8076" y="1529953"/>
            <a:ext cx="279350" cy="27935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228927" y="1504652"/>
            <a:ext cx="34915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综合分析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5228927" y="1672828"/>
            <a:ext cx="349150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合并 Explorer + Oracle 结果分析影响范围</a:t>
            </a:r>
            <a:endParaRPr lang="en-US" sz="700" dirty="0"/>
          </a:p>
        </p:txBody>
      </p:sp>
      <p:sp>
        <p:nvSpPr>
          <p:cNvPr id="28" name="Text 22"/>
          <p:cNvSpPr/>
          <p:nvPr/>
        </p:nvSpPr>
        <p:spPr>
          <a:xfrm>
            <a:off x="4711601" y="1996529"/>
            <a:ext cx="4076849" cy="526703"/>
          </a:xfrm>
          <a:prstGeom prst="roundRect">
            <a:avLst>
              <a:gd name="adj" fmla="val 1446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9" name="Image 4" descr="/Users/qifenghou/Codes/Github-Copilot-Atlas/pptx-workspace/slides/phase-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8076" y="2132856"/>
            <a:ext cx="279350" cy="27935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228927" y="2107555"/>
            <a:ext cx="34915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撰写计划</a:t>
            </a:r>
            <a:endParaRPr lang="en-US" sz="800" dirty="0"/>
          </a:p>
        </p:txBody>
      </p:sp>
      <p:sp>
        <p:nvSpPr>
          <p:cNvPr id="31" name="Text 24"/>
          <p:cNvSpPr/>
          <p:nvPr/>
        </p:nvSpPr>
        <p:spPr>
          <a:xfrm>
            <a:off x="5228927" y="2275731"/>
            <a:ext cx="349150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每阶段包含: 描述 / 受影响文件 / 验收标准 / 依赖</a:t>
            </a:r>
            <a:endParaRPr lang="en-US" sz="700" dirty="0"/>
          </a:p>
        </p:txBody>
      </p:sp>
      <p:sp>
        <p:nvSpPr>
          <p:cNvPr id="32" name="Text 25"/>
          <p:cNvSpPr/>
          <p:nvPr/>
        </p:nvSpPr>
        <p:spPr>
          <a:xfrm>
            <a:off x="4711601" y="2599432"/>
            <a:ext cx="4076849" cy="526703"/>
          </a:xfrm>
          <a:prstGeom prst="roundRect">
            <a:avLst>
              <a:gd name="adj" fmla="val 1446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5" descr="/Users/qifenghou/Codes/Github-Copilot-Atlas/pptx-workspace/slides/phase-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8076" y="2735759"/>
            <a:ext cx="279350" cy="27935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228927" y="2710458"/>
            <a:ext cx="34915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 写入 *-plan.md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5228927" y="2878634"/>
            <a:ext cx="349150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 handoff 回 Atlas 或返回用户审批</a:t>
            </a:r>
            <a:endParaRPr lang="en-US" sz="700" dirty="0"/>
          </a:p>
        </p:txBody>
      </p:sp>
      <p:sp>
        <p:nvSpPr>
          <p:cNvPr id="36" name="Text 28"/>
          <p:cNvSpPr/>
          <p:nvPr/>
        </p:nvSpPr>
        <p:spPr>
          <a:xfrm>
            <a:off x="4711601" y="3202335"/>
            <a:ext cx="4076849" cy="1265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29"/>
          <p:cNvSpPr/>
          <p:nvPr/>
        </p:nvSpPr>
        <p:spPr>
          <a:xfrm>
            <a:off x="4711601" y="3291185"/>
            <a:ext cx="4076849" cy="774502"/>
          </a:xfrm>
          <a:prstGeom prst="roundRect">
            <a:avLst>
              <a:gd name="adj" fmla="val 9839"/>
            </a:avLst>
          </a:prstGeom>
          <a:solidFill>
            <a:srgbClr val="C084FC">
              <a:alpha val="10000"/>
            </a:srgbClr>
          </a:solidFill>
          <a:ln w="9525">
            <a:solidFill>
              <a:srgbClr val="C084F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4848076" y="3402211"/>
            <a:ext cx="38799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输出模板</a:t>
            </a:r>
            <a:endParaRPr lang="en-US" sz="800" dirty="0"/>
          </a:p>
        </p:txBody>
      </p:sp>
      <p:sp>
        <p:nvSpPr>
          <p:cNvPr id="39" name="Text 31"/>
          <p:cNvSpPr/>
          <p:nvPr/>
        </p:nvSpPr>
        <p:spPr>
          <a:xfrm>
            <a:off x="4848076" y="3583186"/>
            <a:ext cx="3803898" cy="371475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N: 标题 + 描述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Files: 受影响文件列表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Acceptance: 验收标准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4A7B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051" y="304800"/>
            <a:ext cx="84980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7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ATLAS EXECUTION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051" y="488900"/>
            <a:ext cx="849802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编排执行流程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051" y="917525"/>
            <a:ext cx="8498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4.5 驱动 | 48+ 工具 | 按阶段循环: 实现 → 审查 → 提交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051" y="1180951"/>
            <a:ext cx="41583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4A7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实现阶段 (Phase 2A)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051" y="1393627"/>
            <a:ext cx="4076849" cy="488752"/>
          </a:xfrm>
          <a:prstGeom prst="roundRect">
            <a:avLst>
              <a:gd name="adj" fmla="val 1559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Users/qifenghou/Codes/Github-Copilot-Atlas/pptx-workspace/slides/icon-atl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27" y="1517303"/>
            <a:ext cx="253901" cy="2539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8928" y="1492002"/>
            <a:ext cx="35174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解析当前阶段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8928" y="1660178"/>
            <a:ext cx="35174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plan.md 提取阶段目标和文件列表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57051" y="1945779"/>
            <a:ext cx="4076849" cy="488752"/>
          </a:xfrm>
          <a:prstGeom prst="roundRect">
            <a:avLst>
              <a:gd name="adj" fmla="val 1559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Users/qifenghou/Codes/Github-Copilot-Atlas/pptx-workspace/slides/icon-sisyphu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27" y="2069455"/>
            <a:ext cx="253901" cy="25390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48928" y="2044154"/>
            <a:ext cx="35174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委派 Sisyphus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948928" y="2212330"/>
            <a:ext cx="35174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TDD 循环: RED → GREEN → REFACTOR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457051" y="2497931"/>
            <a:ext cx="4076849" cy="488752"/>
          </a:xfrm>
          <a:prstGeom prst="roundRect">
            <a:avLst>
              <a:gd name="adj" fmla="val 1559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Users/qifenghou/Codes/Github-Copilot-Atlas/pptx-workspace/slides/icon-fronte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527" y="2621607"/>
            <a:ext cx="253901" cy="25390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48928" y="2596307"/>
            <a:ext cx="35174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或委派 Frontend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948928" y="2764482"/>
            <a:ext cx="35174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如含 UI 任务，走前端专职流程</a:t>
            </a:r>
            <a:endParaRPr lang="en-US" sz="700" dirty="0"/>
          </a:p>
        </p:txBody>
      </p:sp>
      <p:sp>
        <p:nvSpPr>
          <p:cNvPr id="19" name="Text 14"/>
          <p:cNvSpPr/>
          <p:nvPr/>
        </p:nvSpPr>
        <p:spPr>
          <a:xfrm>
            <a:off x="4711601" y="1180951"/>
            <a:ext cx="41583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审查阶段 (Phase 2B)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4711601" y="1393627"/>
            <a:ext cx="4076849" cy="488752"/>
          </a:xfrm>
          <a:prstGeom prst="roundRect">
            <a:avLst>
              <a:gd name="adj" fmla="val 1559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3" descr="/Users/qifenghou/Codes/Github-Copilot-Atlas/pptx-workspace/slides/icon-revie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8076" y="1517303"/>
            <a:ext cx="253901" cy="25390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03478" y="1492002"/>
            <a:ext cx="35174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委派 Code-Review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5203478" y="1660178"/>
            <a:ext cx="35174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逐文件 diff 审查 + 严格评审标准</a:t>
            </a:r>
            <a:endParaRPr lang="en-US" sz="700" dirty="0"/>
          </a:p>
        </p:txBody>
      </p:sp>
      <p:sp>
        <p:nvSpPr>
          <p:cNvPr id="24" name="Text 18"/>
          <p:cNvSpPr/>
          <p:nvPr/>
        </p:nvSpPr>
        <p:spPr>
          <a:xfrm>
            <a:off x="4711601" y="1945779"/>
            <a:ext cx="4076849" cy="488752"/>
          </a:xfrm>
          <a:prstGeom prst="roundRect">
            <a:avLst>
              <a:gd name="adj" fmla="val 1559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4" descr="/Users/qifenghou/Codes/Github-Copilot-Atlas/pptx-workspace/slide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8076" y="2069455"/>
            <a:ext cx="253901" cy="25390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03478" y="2044154"/>
            <a:ext cx="35174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评审结果判断</a:t>
            </a:r>
            <a:endParaRPr lang="en-US" sz="800" dirty="0"/>
          </a:p>
        </p:txBody>
      </p:sp>
      <p:sp>
        <p:nvSpPr>
          <p:cNvPr id="27" name="Text 20"/>
          <p:cNvSpPr/>
          <p:nvPr/>
        </p:nvSpPr>
        <p:spPr>
          <a:xfrm>
            <a:off x="5203478" y="2212330"/>
            <a:ext cx="35174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→ 进入提交 / REVISION → 返回步骤2</a:t>
            </a:r>
            <a:endParaRPr lang="en-US" sz="700" dirty="0"/>
          </a:p>
        </p:txBody>
      </p:sp>
      <p:sp>
        <p:nvSpPr>
          <p:cNvPr id="28" name="Text 21"/>
          <p:cNvSpPr/>
          <p:nvPr/>
        </p:nvSpPr>
        <p:spPr>
          <a:xfrm>
            <a:off x="4711601" y="2497931"/>
            <a:ext cx="4076849" cy="488752"/>
          </a:xfrm>
          <a:prstGeom prst="roundRect">
            <a:avLst>
              <a:gd name="adj" fmla="val 1559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9" name="Image 5" descr="/Users/qifenghou/Codes/Github-Copilot-Atlas/pptx-workspace/slides/phase-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8076" y="2621607"/>
            <a:ext cx="253901" cy="253901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203478" y="2596307"/>
            <a:ext cx="35174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用户提交确认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5203478" y="2764482"/>
            <a:ext cx="35174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强制停止点: 用户决定 commit 或修改</a:t>
            </a:r>
            <a:endParaRPr lang="en-US" sz="700" dirty="0"/>
          </a:p>
        </p:txBody>
      </p:sp>
      <p:sp>
        <p:nvSpPr>
          <p:cNvPr id="32" name="Text 24"/>
          <p:cNvSpPr/>
          <p:nvPr/>
        </p:nvSpPr>
        <p:spPr>
          <a:xfrm>
            <a:off x="457051" y="3126284"/>
            <a:ext cx="2692450" cy="650677"/>
          </a:xfrm>
          <a:prstGeom prst="roundRect">
            <a:avLst>
              <a:gd name="adj" fmla="val 11711"/>
            </a:avLst>
          </a:prstGeom>
          <a:solidFill>
            <a:srgbClr val="4A7BF7">
              <a:alpha val="10000"/>
            </a:srgbClr>
          </a:solidFill>
          <a:ln w="9525">
            <a:solidFill>
              <a:srgbClr val="4A7B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5"/>
          <p:cNvSpPr/>
          <p:nvPr/>
        </p:nvSpPr>
        <p:spPr>
          <a:xfrm>
            <a:off x="593527" y="3237309"/>
            <a:ext cx="24678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7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路径</a:t>
            </a:r>
            <a:endParaRPr lang="en-US" sz="800" dirty="0"/>
          </a:p>
        </p:txBody>
      </p:sp>
      <p:sp>
        <p:nvSpPr>
          <p:cNvPr id="34" name="Text 26"/>
          <p:cNvSpPr/>
          <p:nvPr/>
        </p:nvSpPr>
        <p:spPr>
          <a:xfrm>
            <a:off x="593527" y="3418284"/>
            <a:ext cx="24678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写入 phase-N-complete.md → 推进到下一阶段 → 循环直到全部完成</a:t>
            </a:r>
            <a:endParaRPr lang="en-US" sz="700" dirty="0"/>
          </a:p>
        </p:txBody>
      </p:sp>
      <p:sp>
        <p:nvSpPr>
          <p:cNvPr id="35" name="Text 27"/>
          <p:cNvSpPr/>
          <p:nvPr/>
        </p:nvSpPr>
        <p:spPr>
          <a:xfrm>
            <a:off x="3276451" y="3126284"/>
            <a:ext cx="2692598" cy="650677"/>
          </a:xfrm>
          <a:prstGeom prst="roundRect">
            <a:avLst>
              <a:gd name="adj" fmla="val 11711"/>
            </a:avLst>
          </a:prstGeom>
          <a:solidFill>
            <a:srgbClr val="FF6B35">
              <a:alpha val="10000"/>
            </a:srgbClr>
          </a:solidFill>
          <a:ln w="9525">
            <a:solidFill>
              <a:srgbClr val="FF6B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8"/>
          <p:cNvSpPr/>
          <p:nvPr/>
        </p:nvSpPr>
        <p:spPr>
          <a:xfrm>
            <a:off x="3412927" y="3237309"/>
            <a:ext cx="24680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路径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3412927" y="3418284"/>
            <a:ext cx="24680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附带审查反馈 → 返回 Sisyphus 修改 → 重新审查 → 直到通过</a:t>
            </a:r>
            <a:endParaRPr lang="en-US" sz="700" dirty="0"/>
          </a:p>
        </p:txBody>
      </p:sp>
      <p:sp>
        <p:nvSpPr>
          <p:cNvPr id="38" name="Text 30"/>
          <p:cNvSpPr/>
          <p:nvPr/>
        </p:nvSpPr>
        <p:spPr>
          <a:xfrm>
            <a:off x="6096000" y="3126284"/>
            <a:ext cx="2692450" cy="650677"/>
          </a:xfrm>
          <a:prstGeom prst="roundRect">
            <a:avLst>
              <a:gd name="adj" fmla="val 11711"/>
            </a:avLst>
          </a:prstGeom>
          <a:solidFill>
            <a:srgbClr val="00D4AA">
              <a:alpha val="10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1"/>
          <p:cNvSpPr/>
          <p:nvPr/>
        </p:nvSpPr>
        <p:spPr>
          <a:xfrm>
            <a:off x="6232475" y="3237309"/>
            <a:ext cx="24678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产出文件</a:t>
            </a:r>
            <a:endParaRPr lang="en-US" sz="800" dirty="0"/>
          </a:p>
        </p:txBody>
      </p:sp>
      <p:sp>
        <p:nvSpPr>
          <p:cNvPr id="40" name="Text 32"/>
          <p:cNvSpPr/>
          <p:nvPr/>
        </p:nvSpPr>
        <p:spPr>
          <a:xfrm>
            <a:off x="6232475" y="3418284"/>
            <a:ext cx="24678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*-phase-N-complete.md 记录变更文件、测试结果和阶段摘要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051" y="304800"/>
            <a:ext cx="84980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DELEGATION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051" y="488900"/>
            <a:ext cx="849802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委派关系与权限矩阵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051" y="917525"/>
            <a:ext cx="8498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谁可以委派谁 | 各 Agent 权限范围 | 单向委派原则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051" y="1180951"/>
            <a:ext cx="8331398" cy="2019300"/>
          </a:xfrm>
          <a:prstGeom prst="roundRect">
            <a:avLst>
              <a:gd name="adj" fmla="val 3774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6576" y="1190476"/>
            <a:ext cx="1279327" cy="285750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741140" y="1190476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576" y="1471464"/>
            <a:ext cx="127932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3527" y="1266676"/>
            <a:ext cx="10362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委派方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745903" y="1190476"/>
            <a:ext cx="1533376" cy="285750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74516" y="1190476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45903" y="1471464"/>
            <a:ext cx="1533376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2853" y="1266676"/>
            <a:ext cx="1295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可委派目标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279279" y="1190476"/>
            <a:ext cx="4093220" cy="285750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367736" y="1190476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79279" y="1471464"/>
            <a:ext cx="409322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6229" y="1266676"/>
            <a:ext cx="390639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权限说明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372499" y="1190476"/>
            <a:ext cx="1406426" cy="285750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8774162" y="1190476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72499" y="1471464"/>
            <a:ext cx="1406426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9449" y="1266676"/>
            <a:ext cx="11658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文件编辑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66576" y="1476226"/>
            <a:ext cx="1279327" cy="2857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1741140" y="1476226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576" y="1757214"/>
            <a:ext cx="127932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3527" y="1552426"/>
            <a:ext cx="10362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A7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745903" y="1476226"/>
            <a:ext cx="1533376" cy="2857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274516" y="1476226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45903" y="1757214"/>
            <a:ext cx="1533376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72853" y="1552426"/>
            <a:ext cx="1295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 6 个子 Agent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279279" y="1476226"/>
            <a:ext cx="4093220" cy="2857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7367736" y="1476226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79279" y="1757214"/>
            <a:ext cx="409322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06229" y="1552426"/>
            <a:ext cx="390639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48+ 工具 | 完整文件系统 | 终端 | Git 操作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372499" y="1476226"/>
            <a:ext cx="1406426" cy="2857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8774162" y="1476226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72499" y="1757214"/>
            <a:ext cx="1406426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9449" y="1552426"/>
            <a:ext cx="11658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完全读写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66576" y="1761976"/>
            <a:ext cx="1279327" cy="28575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1741140" y="1761976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576" y="2042964"/>
            <a:ext cx="127932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3527" y="1838176"/>
            <a:ext cx="10362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745903" y="1761976"/>
            <a:ext cx="1533376" cy="28575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3274516" y="1761976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745903" y="2042964"/>
            <a:ext cx="1533376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72853" y="1838176"/>
            <a:ext cx="12953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Explorer, Oracle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279279" y="1761976"/>
            <a:ext cx="4093220" cy="28575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7367736" y="1761976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79279" y="2042964"/>
            <a:ext cx="409322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06229" y="1838176"/>
            <a:ext cx="390639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只读搜索 + 规划输出 | 不可编辑源码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372499" y="1761976"/>
            <a:ext cx="1406426" cy="28575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8774162" y="1761976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72499" y="2042964"/>
            <a:ext cx="1406426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9449" y="1838176"/>
            <a:ext cx="11658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仅写 plan.md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66576" y="2047726"/>
            <a:ext cx="1279327" cy="2857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1741140" y="2047726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6576" y="2328714"/>
            <a:ext cx="127932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3527" y="2123926"/>
            <a:ext cx="10362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Sisyphus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1745903" y="2047726"/>
            <a:ext cx="1533376" cy="2857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Shape 58"/>
          <p:cNvSpPr/>
          <p:nvPr/>
        </p:nvSpPr>
        <p:spPr>
          <a:xfrm>
            <a:off x="3274516" y="2047726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745903" y="2328714"/>
            <a:ext cx="1533376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72853" y="2123926"/>
            <a:ext cx="1295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 (叶子节点)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3279279" y="2047726"/>
            <a:ext cx="4093220" cy="2857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Shape 62"/>
          <p:cNvSpPr/>
          <p:nvPr/>
        </p:nvSpPr>
        <p:spPr>
          <a:xfrm>
            <a:off x="7367736" y="2047726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279279" y="2328714"/>
            <a:ext cx="409322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06229" y="2123926"/>
            <a:ext cx="390639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文件读写 + 终端 + 测试 | TDD 强制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7372499" y="2047726"/>
            <a:ext cx="1406426" cy="2857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Shape 66"/>
          <p:cNvSpPr/>
          <p:nvPr/>
        </p:nvSpPr>
        <p:spPr>
          <a:xfrm>
            <a:off x="8774162" y="2047726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372499" y="2328714"/>
            <a:ext cx="1406426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499449" y="2123926"/>
            <a:ext cx="11658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完全读写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466576" y="2333476"/>
            <a:ext cx="1279327" cy="28575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Shape 70"/>
          <p:cNvSpPr/>
          <p:nvPr/>
        </p:nvSpPr>
        <p:spPr>
          <a:xfrm>
            <a:off x="1741140" y="2333476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66576" y="2614464"/>
            <a:ext cx="127932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93527" y="2409676"/>
            <a:ext cx="10362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Code-Review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1745903" y="2333476"/>
            <a:ext cx="1533376" cy="28575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Shape 74"/>
          <p:cNvSpPr/>
          <p:nvPr/>
        </p:nvSpPr>
        <p:spPr>
          <a:xfrm>
            <a:off x="3274516" y="2333476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745903" y="2614464"/>
            <a:ext cx="1533376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872853" y="2409676"/>
            <a:ext cx="1295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 (叶子节点)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3279279" y="2333476"/>
            <a:ext cx="4093220" cy="28575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Shape 78"/>
          <p:cNvSpPr/>
          <p:nvPr/>
        </p:nvSpPr>
        <p:spPr>
          <a:xfrm>
            <a:off x="7367736" y="2333476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279279" y="2614464"/>
            <a:ext cx="409322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406229" y="2409676"/>
            <a:ext cx="390639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只读代码 + diff 审查 | 输出 APPROVED/REVISION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7372499" y="2333476"/>
            <a:ext cx="1406426" cy="28575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Shape 82"/>
          <p:cNvSpPr/>
          <p:nvPr/>
        </p:nvSpPr>
        <p:spPr>
          <a:xfrm>
            <a:off x="8774162" y="2333476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372499" y="2614464"/>
            <a:ext cx="1406426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499449" y="2409676"/>
            <a:ext cx="11658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只读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466576" y="2619226"/>
            <a:ext cx="1279327" cy="2857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Shape 86"/>
          <p:cNvSpPr/>
          <p:nvPr/>
        </p:nvSpPr>
        <p:spPr>
          <a:xfrm>
            <a:off x="1741140" y="2619226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66576" y="2900214"/>
            <a:ext cx="127932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93527" y="2695426"/>
            <a:ext cx="10362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1745903" y="2619226"/>
            <a:ext cx="1533376" cy="2857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Shape 90"/>
          <p:cNvSpPr/>
          <p:nvPr/>
        </p:nvSpPr>
        <p:spPr>
          <a:xfrm>
            <a:off x="3274516" y="2619226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45903" y="2900214"/>
            <a:ext cx="1533376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872853" y="2695426"/>
            <a:ext cx="1295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 (叶子节点)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3279279" y="2619226"/>
            <a:ext cx="4093220" cy="2857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Shape 94"/>
          <p:cNvSpPr/>
          <p:nvPr/>
        </p:nvSpPr>
        <p:spPr>
          <a:xfrm>
            <a:off x="7367736" y="2619226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279279" y="2900214"/>
            <a:ext cx="409322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406229" y="2695426"/>
            <a:ext cx="390639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file_search + grep_search + read_file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7372499" y="2619226"/>
            <a:ext cx="1406426" cy="2857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Shape 98"/>
          <p:cNvSpPr/>
          <p:nvPr/>
        </p:nvSpPr>
        <p:spPr>
          <a:xfrm>
            <a:off x="8774162" y="2619226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72499" y="2900214"/>
            <a:ext cx="1406426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499449" y="2695426"/>
            <a:ext cx="11658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只读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466576" y="2904976"/>
            <a:ext cx="1279327" cy="28575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4" name="Shape 102"/>
          <p:cNvSpPr/>
          <p:nvPr/>
        </p:nvSpPr>
        <p:spPr>
          <a:xfrm>
            <a:off x="1741140" y="2904976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66576" y="3185964"/>
            <a:ext cx="127932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93527" y="2981176"/>
            <a:ext cx="10362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1745903" y="2904976"/>
            <a:ext cx="1533376" cy="28575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8" name="Shape 106"/>
          <p:cNvSpPr/>
          <p:nvPr/>
        </p:nvSpPr>
        <p:spPr>
          <a:xfrm>
            <a:off x="3274516" y="2904976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745903" y="3185964"/>
            <a:ext cx="1533376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872853" y="2981176"/>
            <a:ext cx="1295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 (叶子节点)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3279279" y="2904976"/>
            <a:ext cx="4093220" cy="28575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2" name="Shape 110"/>
          <p:cNvSpPr/>
          <p:nvPr/>
        </p:nvSpPr>
        <p:spPr>
          <a:xfrm>
            <a:off x="7367736" y="2904976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279279" y="3185964"/>
            <a:ext cx="409322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406229" y="2981176"/>
            <a:ext cx="390639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fetch_webpage + semantic_search + 文档查询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7372499" y="2904976"/>
            <a:ext cx="1406426" cy="28575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Shape 114"/>
          <p:cNvSpPr/>
          <p:nvPr/>
        </p:nvSpPr>
        <p:spPr>
          <a:xfrm>
            <a:off x="8774162" y="2904976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372499" y="3185964"/>
            <a:ext cx="1406426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499449" y="2981176"/>
            <a:ext cx="11658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只读</a:t>
            </a:r>
            <a:endParaRPr lang="en-US" sz="700" dirty="0"/>
          </a:p>
        </p:txBody>
      </p:sp>
      <p:sp>
        <p:nvSpPr>
          <p:cNvPr id="119" name="Text 117"/>
          <p:cNvSpPr/>
          <p:nvPr/>
        </p:nvSpPr>
        <p:spPr>
          <a:xfrm>
            <a:off x="457051" y="3327202"/>
            <a:ext cx="2692450" cy="526852"/>
          </a:xfrm>
          <a:prstGeom prst="roundRect">
            <a:avLst>
              <a:gd name="adj" fmla="val 1446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0" name="Text 118"/>
          <p:cNvSpPr/>
          <p:nvPr/>
        </p:nvSpPr>
        <p:spPr>
          <a:xfrm>
            <a:off x="593527" y="3438227"/>
            <a:ext cx="24678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单向委派原则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593527" y="3619202"/>
            <a:ext cx="24678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 Agent 不可反向委派父级，保证控制流清晰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3276451" y="3327202"/>
            <a:ext cx="2692598" cy="526852"/>
          </a:xfrm>
          <a:prstGeom prst="roundRect">
            <a:avLst>
              <a:gd name="adj" fmla="val 1446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3" name="Text 121"/>
          <p:cNvSpPr/>
          <p:nvPr/>
        </p:nvSpPr>
        <p:spPr>
          <a:xfrm>
            <a:off x="3412927" y="3438227"/>
            <a:ext cx="24680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最小权限原则</a:t>
            </a:r>
            <a:endParaRPr lang="en-US" sz="800" dirty="0"/>
          </a:p>
        </p:txBody>
      </p:sp>
      <p:sp>
        <p:nvSpPr>
          <p:cNvPr id="124" name="Text 122"/>
          <p:cNvSpPr/>
          <p:nvPr/>
        </p:nvSpPr>
        <p:spPr>
          <a:xfrm>
            <a:off x="3412927" y="3619202"/>
            <a:ext cx="24680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 Agent 仅获得完成任务所需的最少工具和权限</a:t>
            </a:r>
            <a:endParaRPr lang="en-US" sz="700" dirty="0"/>
          </a:p>
        </p:txBody>
      </p:sp>
      <p:sp>
        <p:nvSpPr>
          <p:cNvPr id="125" name="Text 123"/>
          <p:cNvSpPr/>
          <p:nvPr/>
        </p:nvSpPr>
        <p:spPr>
          <a:xfrm>
            <a:off x="6096000" y="3327202"/>
            <a:ext cx="2692450" cy="526852"/>
          </a:xfrm>
          <a:prstGeom prst="roundRect">
            <a:avLst>
              <a:gd name="adj" fmla="val 1446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6" name="Text 124"/>
          <p:cNvSpPr/>
          <p:nvPr/>
        </p:nvSpPr>
        <p:spPr>
          <a:xfrm>
            <a:off x="6232475" y="3438227"/>
            <a:ext cx="24678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结果必回传</a:t>
            </a:r>
            <a:endParaRPr lang="en-US" sz="800" dirty="0"/>
          </a:p>
        </p:txBody>
      </p:sp>
      <p:sp>
        <p:nvSpPr>
          <p:cNvPr id="127" name="Text 125"/>
          <p:cNvSpPr/>
          <p:nvPr/>
        </p:nvSpPr>
        <p:spPr>
          <a:xfrm>
            <a:off x="6232475" y="3619202"/>
            <a:ext cx="24678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所有子 Agent 完成后必须将结果返回给委派方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FD9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051" y="304800"/>
            <a:ext cx="84980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PARALLEL EXECUTION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051" y="488900"/>
            <a:ext cx="849802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并行执行策略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051" y="917525"/>
            <a:ext cx="8498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 Agent 同时工作 | 上下文独立 | 10x 效率提升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051" y="1180951"/>
            <a:ext cx="4076849" cy="1057126"/>
          </a:xfrm>
          <a:prstGeom prst="roundRect">
            <a:avLst>
              <a:gd name="adj" fmla="val 7208"/>
            </a:avLst>
          </a:prstGeom>
          <a:solidFill>
            <a:srgbClr val="4A7BF7">
              <a:alpha val="12000"/>
            </a:srgbClr>
          </a:solidFill>
          <a:ln w="9525">
            <a:solidFill>
              <a:srgbClr val="4A7B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527" y="1317427"/>
            <a:ext cx="38799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7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研究阶段并行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3527" y="1530102"/>
            <a:ext cx="387997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同时委派: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93527" y="1692027"/>
            <a:ext cx="3803898" cy="2476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 → 代码库探索</a:t>
            </a:r>
            <a:endParaRPr lang="en-US" sz="700" dirty="0"/>
          </a:p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→ 外部文档研究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93527" y="1977777"/>
            <a:ext cx="387997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两者独立执行，结果合并用于规划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051" y="2314277"/>
            <a:ext cx="4076849" cy="1057126"/>
          </a:xfrm>
          <a:prstGeom prst="roundRect">
            <a:avLst>
              <a:gd name="adj" fmla="val 7208"/>
            </a:avLst>
          </a:prstGeom>
          <a:solidFill>
            <a:srgbClr val="00D4AA">
              <a:alpha val="12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93527" y="2450753"/>
            <a:ext cx="38799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实现阶段并行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3527" y="2663428"/>
            <a:ext cx="387997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可同时委派: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93527" y="2825353"/>
            <a:ext cx="3803898" cy="2476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Sisyphus → 后端实现</a:t>
            </a:r>
            <a:endParaRPr lang="en-US" sz="700" dirty="0"/>
          </a:p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Frontend-Engineer → 前端 UI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93527" y="3111103"/>
            <a:ext cx="387997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文件不重叠时可完全并行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711601" y="1180951"/>
            <a:ext cx="4076849" cy="1057126"/>
          </a:xfrm>
          <a:prstGeom prst="roundRect">
            <a:avLst>
              <a:gd name="adj" fmla="val 7208"/>
            </a:avLst>
          </a:prstGeom>
          <a:solidFill>
            <a:srgbClr val="FF6B35">
              <a:alpha val="12000"/>
            </a:srgbClr>
          </a:solidFill>
          <a:ln w="9525">
            <a:solidFill>
              <a:srgbClr val="FF6B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48076" y="1317427"/>
            <a:ext cx="38799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审查阶段并行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8076" y="1530102"/>
            <a:ext cx="387997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阶段完成后 Atlas 同时启动: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848076" y="1692027"/>
            <a:ext cx="3803898" cy="2476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Code-Review → 代码审查</a:t>
            </a:r>
            <a:endParaRPr lang="en-US" sz="700" dirty="0"/>
          </a:p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 → 回归检查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848076" y="1977777"/>
            <a:ext cx="387997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审查与探索并行加速反馈循环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711601" y="2314277"/>
            <a:ext cx="4076849" cy="980926"/>
          </a:xfrm>
          <a:prstGeom prst="roundRect">
            <a:avLst>
              <a:gd name="adj" fmla="val 776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48076" y="2450753"/>
            <a:ext cx="38799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并行安全条件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8076" y="2663428"/>
            <a:ext cx="3803898" cy="495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 Agent 操作的文件集不重叠</a:t>
            </a:r>
            <a:endParaRPr lang="en-US" sz="700" dirty="0"/>
          </a:p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不存在数据依赖关系</a:t>
            </a:r>
            <a:endParaRPr lang="en-US" sz="700" dirty="0"/>
          </a:p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 Agent 有独立上下文窗口</a:t>
            </a:r>
            <a:endParaRPr lang="en-US" sz="700" dirty="0"/>
          </a:p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负责合并和冲突检测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57051" y="3523804"/>
            <a:ext cx="1987600" cy="514052"/>
          </a:xfrm>
          <a:prstGeom prst="roundRect">
            <a:avLst>
              <a:gd name="adj" fmla="val 1482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50421" y="3634829"/>
            <a:ext cx="18008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7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21" y="3803005"/>
            <a:ext cx="18008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研究并行加速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571601" y="3523804"/>
            <a:ext cx="1987748" cy="514052"/>
          </a:xfrm>
          <a:prstGeom prst="roundRect">
            <a:avLst>
              <a:gd name="adj" fmla="val 1482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664970" y="3634829"/>
            <a:ext cx="18010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64970" y="3803005"/>
            <a:ext cx="180101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多文件实现加速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686300" y="3523804"/>
            <a:ext cx="1987600" cy="514052"/>
          </a:xfrm>
          <a:prstGeom prst="roundRect">
            <a:avLst>
              <a:gd name="adj" fmla="val 1482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79670" y="3634829"/>
            <a:ext cx="18008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79670" y="3803005"/>
            <a:ext cx="18008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审查周期缩短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800850" y="3523804"/>
            <a:ext cx="1987600" cy="514052"/>
          </a:xfrm>
          <a:prstGeom prst="roundRect">
            <a:avLst>
              <a:gd name="adj" fmla="val 1482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894220" y="3634829"/>
            <a:ext cx="18008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94220" y="3803005"/>
            <a:ext cx="18008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整体效率提升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051" y="304800"/>
            <a:ext cx="84980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CONTEXT CONSERVATION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051" y="488900"/>
            <a:ext cx="849802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上下文保护策略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051" y="917525"/>
            <a:ext cx="8498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 Agent 分担认知负载 | 主 Agent 保留决策上下文 | 节省 70-80% 上下文窗口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051" y="1180951"/>
            <a:ext cx="4076849" cy="1304776"/>
          </a:xfrm>
          <a:prstGeom prst="roundRect">
            <a:avLst>
              <a:gd name="adj" fmla="val 5840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527" y="1317427"/>
            <a:ext cx="387997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核心思想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3527" y="1549152"/>
            <a:ext cx="3803898" cy="800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buSzPct val="100000"/>
              <a:buChar char="•"/>
            </a:pPr>
            <a:r>
              <a:rPr lang="en-US" sz="75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只保留高层决策上下文</a:t>
            </a:r>
            <a:endParaRPr lang="en-US" sz="750" dirty="0"/>
          </a:p>
          <a:p>
            <a:pPr algn="l" marL="76200" indent="-76200">
              <a:buSzPct val="100000"/>
              <a:buChar char="•"/>
            </a:pPr>
            <a:r>
              <a:rPr lang="en-US" sz="75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重型操作委派给专职子 Agent</a:t>
            </a:r>
            <a:endParaRPr lang="en-US" sz="750" dirty="0"/>
          </a:p>
          <a:p>
            <a:pPr algn="l" marL="76200" indent="-76200">
              <a:buSzPct val="100000"/>
              <a:buChar char="•"/>
            </a:pPr>
            <a:r>
              <a:rPr lang="en-US" sz="75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 消化大量代码探索结果</a:t>
            </a:r>
            <a:endParaRPr lang="en-US" sz="750" dirty="0"/>
          </a:p>
          <a:p>
            <a:pPr algn="l" marL="76200" indent="-76200">
              <a:buSzPct val="100000"/>
              <a:buChar char="•"/>
            </a:pPr>
            <a:r>
              <a:rPr lang="en-US" sz="75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消化外部文档和研究</a:t>
            </a:r>
            <a:endParaRPr lang="en-US" sz="750" dirty="0"/>
          </a:p>
          <a:p>
            <a:pPr algn="l" marL="76200" indent="-76200">
              <a:buSzPct val="100000"/>
              <a:buChar char="•"/>
            </a:pPr>
            <a:r>
              <a:rPr lang="en-US" sz="75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Sisyphus 消化实现细节和测试</a:t>
            </a:r>
            <a:endParaRPr lang="en-US" sz="750" dirty="0"/>
          </a:p>
          <a:p>
            <a:pPr algn="l" marL="76200" indent="-76200">
              <a:buSzPct val="100000"/>
              <a:buChar char="•"/>
            </a:pPr>
            <a:r>
              <a:rPr lang="en-US" sz="75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 Agent 返回精简摘要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051" y="2587228"/>
            <a:ext cx="4076849" cy="1038076"/>
          </a:xfrm>
          <a:prstGeom prst="roundRect">
            <a:avLst>
              <a:gd name="adj" fmla="val 734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3527" y="2723704"/>
            <a:ext cx="387997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精简摘要模式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3527" y="2955429"/>
            <a:ext cx="3803898" cy="5334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buSzPct val="100000"/>
              <a:buChar char="•"/>
            </a:pPr>
            <a:r>
              <a:rPr lang="en-US" sz="75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Explorer: 返回文件列表 + 关键发现</a:t>
            </a:r>
            <a:endParaRPr lang="en-US" sz="750" dirty="0"/>
          </a:p>
          <a:p>
            <a:pPr algn="l" marL="76200" indent="-76200">
              <a:buSzPct val="100000"/>
              <a:buChar char="•"/>
            </a:pPr>
            <a:r>
              <a:rPr lang="en-US" sz="75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Oracle: 返回技术方案 + 关键参考</a:t>
            </a:r>
            <a:endParaRPr lang="en-US" sz="750" dirty="0"/>
          </a:p>
          <a:p>
            <a:pPr algn="l" marL="76200" indent="-76200">
              <a:buSzPct val="100000"/>
              <a:buChar char="•"/>
            </a:pPr>
            <a:r>
              <a:rPr lang="en-US" sz="75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Code-Review: 返回 APPROVED/REVISION</a:t>
            </a:r>
            <a:endParaRPr lang="en-US" sz="750" dirty="0"/>
          </a:p>
          <a:p>
            <a:pPr algn="l" marL="76200" indent="-76200">
              <a:buSzPct val="100000"/>
              <a:buChar char="•"/>
            </a:pPr>
            <a:r>
              <a:rPr lang="en-US" sz="75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避免传递原始代码到父 Agent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711601" y="1180951"/>
            <a:ext cx="41583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上下文占用对比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11601" y="1419076"/>
            <a:ext cx="41583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无委派 (单 Agent 模式)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711601" y="1593652"/>
            <a:ext cx="3740944" cy="126950"/>
          </a:xfrm>
          <a:prstGeom prst="roundRect">
            <a:avLst>
              <a:gd name="adj" fmla="val 50020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11601" y="1593652"/>
            <a:ext cx="3740944" cy="126950"/>
          </a:xfrm>
          <a:prstGeom prst="roundRect">
            <a:avLst>
              <a:gd name="adj" fmla="val 5002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28745" y="1599902"/>
            <a:ext cx="264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11601" y="1796802"/>
            <a:ext cx="41583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有委派 (多 Agent 模式)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711601" y="1971377"/>
            <a:ext cx="3650605" cy="126950"/>
          </a:xfrm>
          <a:prstGeom prst="roundRect">
            <a:avLst>
              <a:gd name="adj" fmla="val 50020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11601" y="1971377"/>
            <a:ext cx="912614" cy="126950"/>
          </a:xfrm>
          <a:prstGeom prst="roundRect">
            <a:avLst>
              <a:gd name="adj" fmla="val 50020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438406" y="1977628"/>
            <a:ext cx="3570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20-30%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11601" y="2276029"/>
            <a:ext cx="1974949" cy="987177"/>
          </a:xfrm>
          <a:prstGeom prst="roundRect">
            <a:avLst>
              <a:gd name="adj" fmla="val 7719"/>
            </a:avLst>
          </a:prstGeom>
          <a:solidFill>
            <a:srgbClr val="FF6B35">
              <a:alpha val="12000"/>
            </a:srgbClr>
          </a:solidFill>
          <a:ln w="9525">
            <a:solidFill>
              <a:srgbClr val="FF6B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31056" y="2412504"/>
            <a:ext cx="17360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31056" y="2717304"/>
            <a:ext cx="17360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 Agent 上下文占用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831056" y="2866430"/>
            <a:ext cx="17360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所有探索+实现+审查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831056" y="3002905"/>
            <a:ext cx="17360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全部塞入一个窗口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813500" y="2276029"/>
            <a:ext cx="1974949" cy="987177"/>
          </a:xfrm>
          <a:prstGeom prst="roundRect">
            <a:avLst>
              <a:gd name="adj" fmla="val 7719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932956" y="2412504"/>
            <a:ext cx="17360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32956" y="2717304"/>
            <a:ext cx="17360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 Agent 上下文占用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932956" y="2866430"/>
            <a:ext cx="17360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只保留决策和摘要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932956" y="3002905"/>
            <a:ext cx="17360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节省 70-80% 空间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472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051" y="304800"/>
            <a:ext cx="84980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DESIGN PRINCIPLES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051" y="488900"/>
            <a:ext cx="849802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六大设计原则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051" y="917525"/>
            <a:ext cx="8498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构建可靠、可扩展、高效的 AI 多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051" y="1180951"/>
            <a:ext cx="2948136" cy="1139577"/>
          </a:xfrm>
          <a:prstGeom prst="roundRect">
            <a:avLst>
              <a:gd name="adj" fmla="val 8916"/>
            </a:avLst>
          </a:prstGeom>
          <a:solidFill>
            <a:srgbClr val="4A7BF7">
              <a:alpha val="12000"/>
            </a:srgbClr>
          </a:solidFill>
          <a:ln w="9525">
            <a:solidFill>
              <a:srgbClr val="4A7B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527" y="1317427"/>
            <a:ext cx="27286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7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单一职责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3527" y="1549152"/>
            <a:ext cx="27286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Responsibility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3527" y="1688753"/>
            <a:ext cx="2675186" cy="495300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 Agent 专注一件事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 只探索不实现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Sisyphus 只实现不审查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职责零重叠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532138" y="1180951"/>
            <a:ext cx="2948136" cy="1139577"/>
          </a:xfrm>
          <a:prstGeom prst="roundRect">
            <a:avLst>
              <a:gd name="adj" fmla="val 8916"/>
            </a:avLst>
          </a:prstGeom>
          <a:solidFill>
            <a:srgbClr val="00D4AA">
              <a:alpha val="12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668613" y="1317427"/>
            <a:ext cx="27286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最小权限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68613" y="1549152"/>
            <a:ext cx="27286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68613" y="1688753"/>
            <a:ext cx="2675186" cy="495300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工具按需分配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 没有写权限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Code-Review 无编辑能力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防止越权操作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051" y="2447479"/>
            <a:ext cx="2948136" cy="1139577"/>
          </a:xfrm>
          <a:prstGeom prst="roundRect">
            <a:avLst>
              <a:gd name="adj" fmla="val 8916"/>
            </a:avLst>
          </a:prstGeom>
          <a:solidFill>
            <a:srgbClr val="FF6B35">
              <a:alpha val="12000"/>
            </a:srgbClr>
          </a:solidFill>
          <a:ln w="9525">
            <a:solidFill>
              <a:srgbClr val="FF6B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93527" y="2583954"/>
            <a:ext cx="27286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TDD 驱动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3527" y="2815679"/>
            <a:ext cx="27286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Test-Driven Development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93527" y="2955280"/>
            <a:ext cx="2675186" cy="495300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RED: 先写失败测试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GREEN: 最少代码通过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REFACTOR: 清理优化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强制每阶段执行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532138" y="2447479"/>
            <a:ext cx="2948136" cy="1139577"/>
          </a:xfrm>
          <a:prstGeom prst="roundRect">
            <a:avLst>
              <a:gd name="adj" fmla="val 8916"/>
            </a:avLst>
          </a:prstGeom>
          <a:solidFill>
            <a:srgbClr val="C084FC">
              <a:alpha val="12000"/>
            </a:srgbClr>
          </a:solidFill>
          <a:ln w="9525">
            <a:solidFill>
              <a:srgbClr val="C084F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668613" y="2583954"/>
            <a:ext cx="27286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人在环中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68613" y="2815679"/>
            <a:ext cx="27286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68613" y="2955280"/>
            <a:ext cx="2675186" cy="495300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计划必须用户审批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每阶段需确认提交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最终完成需用户确认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个强制停止点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7051" y="3714006"/>
            <a:ext cx="2948136" cy="1139577"/>
          </a:xfrm>
          <a:prstGeom prst="roundRect">
            <a:avLst>
              <a:gd name="adj" fmla="val 8916"/>
            </a:avLst>
          </a:prstGeom>
          <a:solidFill>
            <a:srgbClr val="FFD93D">
              <a:alpha val="12000"/>
            </a:srgbClr>
          </a:solidFill>
          <a:ln w="9525">
            <a:solidFill>
              <a:srgbClr val="FFD9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93527" y="3850481"/>
            <a:ext cx="27286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上下文保护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3527" y="4082207"/>
            <a:ext cx="27286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Conservation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3527" y="4221807"/>
            <a:ext cx="2675186" cy="495300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委派重型操作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返回精简摘要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 Agent 保持轻量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节省 70-80% 窗口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532138" y="3714006"/>
            <a:ext cx="2948136" cy="1139577"/>
          </a:xfrm>
          <a:prstGeom prst="roundRect">
            <a:avLst>
              <a:gd name="adj" fmla="val 8916"/>
            </a:avLst>
          </a:prstGeom>
          <a:solidFill>
            <a:srgbClr val="F472B6">
              <a:alpha val="12000"/>
            </a:srgbClr>
          </a:solidFill>
          <a:ln w="9525">
            <a:solidFill>
              <a:srgbClr val="F472B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668613" y="3850481"/>
            <a:ext cx="27286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可扩展性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68613" y="4082207"/>
            <a:ext cx="27286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Extensibility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68613" y="4221807"/>
            <a:ext cx="2675186" cy="495300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 .agent.md 格式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轻松添加新 Agent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自定义工具和模型</a:t>
            </a:r>
            <a:endParaRPr lang="en-US" sz="700" dirty="0"/>
          </a:p>
          <a:p>
            <a:pPr algn="l" marL="63500" indent="-63500">
              <a:buSzPct val="100000"/>
              <a:buChar char="•"/>
            </a:pPr>
            <a:r>
              <a:rPr lang="en-US" sz="700" dirty="0">
                <a:solidFill>
                  <a:srgbClr val="C8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插件化架构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qifenghou/Codes/Github-Copilot-Atlas/pptx-workspace/slides/icon-atl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939998"/>
            <a:ext cx="609600" cy="60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39881" y="1701998"/>
            <a:ext cx="206408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Atlas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3781554" y="2149673"/>
            <a:ext cx="15807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 Agent 协作编排系统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181165" y="2460724"/>
            <a:ext cx="27816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000" dirty="0">
                <a:solidFill>
                  <a:srgbClr val="4A7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个专职 Agent | 48+ 工具 | TDD 驱动 | 人在环中</a:t>
            </a:r>
            <a:endParaRPr lang="en-US" sz="1000" dirty="0"/>
          </a:p>
        </p:txBody>
      </p:sp>
      <p:pic>
        <p:nvPicPr>
          <p:cNvPr id="6" name="Image 1" descr="/Users/qifenghou/Codes/Github-Copilot-Atlas/pptx-workspace/slides/icon-prometheu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346" y="2844850"/>
            <a:ext cx="406301" cy="406301"/>
          </a:xfrm>
          <a:prstGeom prst="rect">
            <a:avLst/>
          </a:prstGeom>
        </p:spPr>
      </p:pic>
      <p:pic>
        <p:nvPicPr>
          <p:cNvPr id="7" name="Image 2" descr="/Users/qifenghou/Codes/Github-Copilot-Atlas/pptx-workspace/slides/icon-explor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7147" y="2844850"/>
            <a:ext cx="406301" cy="406301"/>
          </a:xfrm>
          <a:prstGeom prst="rect">
            <a:avLst/>
          </a:prstGeom>
        </p:spPr>
      </p:pic>
      <p:pic>
        <p:nvPicPr>
          <p:cNvPr id="8" name="Image 3" descr="/Users/qifenghou/Codes/Github-Copilot-Atlas/pptx-workspace/slides/icon-ora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949" y="2844850"/>
            <a:ext cx="406301" cy="406301"/>
          </a:xfrm>
          <a:prstGeom prst="rect">
            <a:avLst/>
          </a:prstGeom>
        </p:spPr>
      </p:pic>
      <p:pic>
        <p:nvPicPr>
          <p:cNvPr id="9" name="Image 4" descr="/Users/qifenghou/Codes/Github-Copilot-Atlas/pptx-workspace/slides/icon-sisyphu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2750" y="2844850"/>
            <a:ext cx="406301" cy="406301"/>
          </a:xfrm>
          <a:prstGeom prst="rect">
            <a:avLst/>
          </a:prstGeom>
        </p:spPr>
      </p:pic>
      <p:pic>
        <p:nvPicPr>
          <p:cNvPr id="10" name="Image 5" descr="/Users/qifenghou/Codes/Github-Copilot-Atlas/pptx-workspace/slides/icon-revie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0552" y="2844850"/>
            <a:ext cx="406301" cy="406301"/>
          </a:xfrm>
          <a:prstGeom prst="rect">
            <a:avLst/>
          </a:prstGeom>
        </p:spPr>
      </p:pic>
      <p:pic>
        <p:nvPicPr>
          <p:cNvPr id="11" name="Image 6" descr="/Users/qifenghou/Codes/Github-Copilot-Atlas/pptx-workspace/slides/icon-fronten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8354" y="2844850"/>
            <a:ext cx="406301" cy="406301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2926259" y="3454301"/>
            <a:ext cx="1165027" cy="234851"/>
          </a:xfrm>
          <a:prstGeom prst="roundRect">
            <a:avLst>
              <a:gd name="adj" fmla="val 64892"/>
            </a:avLst>
          </a:prstGeom>
          <a:solidFill>
            <a:srgbClr val="4A7BF7">
              <a:alpha val="20000"/>
            </a:srgbClr>
          </a:solidFill>
          <a:ln w="9525">
            <a:solidFill>
              <a:srgbClr val="4A7B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4"/>
          <p:cNvSpPr/>
          <p:nvPr/>
        </p:nvSpPr>
        <p:spPr>
          <a:xfrm>
            <a:off x="3079772" y="3514576"/>
            <a:ext cx="858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4.5</a:t>
            </a:r>
            <a:endParaRPr lang="en-US" sz="800" dirty="0"/>
          </a:p>
        </p:txBody>
      </p:sp>
      <p:sp>
        <p:nvSpPr>
          <p:cNvPr id="14" name="Text 5"/>
          <p:cNvSpPr/>
          <p:nvPr/>
        </p:nvSpPr>
        <p:spPr>
          <a:xfrm>
            <a:off x="4192786" y="3454301"/>
            <a:ext cx="939105" cy="234851"/>
          </a:xfrm>
          <a:prstGeom prst="roundRect">
            <a:avLst>
              <a:gd name="adj" fmla="val 64892"/>
            </a:avLst>
          </a:prstGeom>
          <a:solidFill>
            <a:srgbClr val="C084FC">
              <a:alpha val="20000"/>
            </a:srgbClr>
          </a:solidFill>
          <a:ln w="9525">
            <a:solidFill>
              <a:srgbClr val="C084F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6"/>
          <p:cNvSpPr/>
          <p:nvPr/>
        </p:nvSpPr>
        <p:spPr>
          <a:xfrm>
            <a:off x="4348558" y="3514576"/>
            <a:ext cx="6275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GPT-5.2 High</a:t>
            </a:r>
            <a:endParaRPr lang="en-US" sz="800" dirty="0"/>
          </a:p>
        </p:txBody>
      </p:sp>
      <p:sp>
        <p:nvSpPr>
          <p:cNvPr id="16" name="Text 7"/>
          <p:cNvSpPr/>
          <p:nvPr/>
        </p:nvSpPr>
        <p:spPr>
          <a:xfrm>
            <a:off x="5233392" y="3454301"/>
            <a:ext cx="984200" cy="234851"/>
          </a:xfrm>
          <a:prstGeom prst="roundRect">
            <a:avLst>
              <a:gd name="adj" fmla="val 64892"/>
            </a:avLst>
          </a:prstGeom>
          <a:solidFill>
            <a:srgbClr val="00D4AA">
              <a:alpha val="20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8"/>
          <p:cNvSpPr/>
          <p:nvPr/>
        </p:nvSpPr>
        <p:spPr>
          <a:xfrm>
            <a:off x="5388714" y="3514576"/>
            <a:ext cx="6735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</a:t>
            </a:r>
            <a:endParaRPr lang="en-US" sz="800" dirty="0"/>
          </a:p>
        </p:txBody>
      </p:sp>
      <p:sp>
        <p:nvSpPr>
          <p:cNvPr id="18" name="Text 9"/>
          <p:cNvSpPr/>
          <p:nvPr/>
        </p:nvSpPr>
        <p:spPr>
          <a:xfrm>
            <a:off x="3587547" y="3943052"/>
            <a:ext cx="1968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800" dirty="0">
                <a:solidFill>
                  <a:srgbClr val="55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github.com/bigguy345/Github-Copilot-Atlas</a:t>
            </a:r>
            <a:endParaRPr lang="en-US" sz="800" dirty="0"/>
          </a:p>
        </p:txBody>
      </p:sp>
      <p:sp>
        <p:nvSpPr>
          <p:cNvPr id="19" name="Text 10"/>
          <p:cNvSpPr/>
          <p:nvPr/>
        </p:nvSpPr>
        <p:spPr>
          <a:xfrm>
            <a:off x="4360234" y="4108103"/>
            <a:ext cx="4233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3A4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2026-02-07T15:28:24Z</dcterms:created>
  <dcterms:modified xsi:type="dcterms:W3CDTF">2026-02-07T15:28:24Z</dcterms:modified>
</cp:coreProperties>
</file>